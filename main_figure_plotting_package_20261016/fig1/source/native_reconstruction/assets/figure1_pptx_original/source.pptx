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76" r:id="rId2"/>
    <p:sldId id="277" r:id="rId3"/>
  </p:sldIdLst>
  <p:sldSz cx="12193588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B62C"/>
    <a:srgbClr val="FFF2D5"/>
    <a:srgbClr val="DE8530"/>
    <a:srgbClr val="FEE2CF"/>
    <a:srgbClr val="DC7B1F"/>
    <a:srgbClr val="FEE6D3"/>
    <a:srgbClr val="459B81"/>
    <a:srgbClr val="E3EFFB"/>
    <a:srgbClr val="E4F1FC"/>
    <a:srgbClr val="BC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3" autoAdjust="0"/>
    <p:restoredTop sz="94726"/>
  </p:normalViewPr>
  <p:slideViewPr>
    <p:cSldViewPr snapToGrid="0">
      <p:cViewPr varScale="1">
        <p:scale>
          <a:sx n="32" d="100"/>
          <a:sy n="32" d="100"/>
        </p:scale>
        <p:origin x="30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AC6F0-FB17-3A43-9950-D65883183A2B}" type="datetimeFigureOut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57463" y="1143000"/>
            <a:ext cx="1743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785D3-CF81-C344-98FA-A76714BA2A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5681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22054" rtl="0" eaLnBrk="1" latinLnBrk="0" hangingPunct="1">
      <a:defRPr sz="2129" kern="1200">
        <a:solidFill>
          <a:schemeClr val="tx1"/>
        </a:solidFill>
        <a:latin typeface="+mn-lt"/>
        <a:ea typeface="+mn-ea"/>
        <a:cs typeface="+mn-cs"/>
      </a:defRPr>
    </a:lvl1pPr>
    <a:lvl2pPr marL="811027" algn="l" defTabSz="1622054" rtl="0" eaLnBrk="1" latinLnBrk="0" hangingPunct="1">
      <a:defRPr sz="2129" kern="1200">
        <a:solidFill>
          <a:schemeClr val="tx1"/>
        </a:solidFill>
        <a:latin typeface="+mn-lt"/>
        <a:ea typeface="+mn-ea"/>
        <a:cs typeface="+mn-cs"/>
      </a:defRPr>
    </a:lvl2pPr>
    <a:lvl3pPr marL="1622054" algn="l" defTabSz="1622054" rtl="0" eaLnBrk="1" latinLnBrk="0" hangingPunct="1">
      <a:defRPr sz="2129" kern="1200">
        <a:solidFill>
          <a:schemeClr val="tx1"/>
        </a:solidFill>
        <a:latin typeface="+mn-lt"/>
        <a:ea typeface="+mn-ea"/>
        <a:cs typeface="+mn-cs"/>
      </a:defRPr>
    </a:lvl3pPr>
    <a:lvl4pPr marL="2433081" algn="l" defTabSz="1622054" rtl="0" eaLnBrk="1" latinLnBrk="0" hangingPunct="1">
      <a:defRPr sz="2129" kern="1200">
        <a:solidFill>
          <a:schemeClr val="tx1"/>
        </a:solidFill>
        <a:latin typeface="+mn-lt"/>
        <a:ea typeface="+mn-ea"/>
        <a:cs typeface="+mn-cs"/>
      </a:defRPr>
    </a:lvl4pPr>
    <a:lvl5pPr marL="3244108" algn="l" defTabSz="1622054" rtl="0" eaLnBrk="1" latinLnBrk="0" hangingPunct="1">
      <a:defRPr sz="2129" kern="1200">
        <a:solidFill>
          <a:schemeClr val="tx1"/>
        </a:solidFill>
        <a:latin typeface="+mn-lt"/>
        <a:ea typeface="+mn-ea"/>
        <a:cs typeface="+mn-cs"/>
      </a:defRPr>
    </a:lvl5pPr>
    <a:lvl6pPr marL="4055135" algn="l" defTabSz="1622054" rtl="0" eaLnBrk="1" latinLnBrk="0" hangingPunct="1">
      <a:defRPr sz="2129" kern="1200">
        <a:solidFill>
          <a:schemeClr val="tx1"/>
        </a:solidFill>
        <a:latin typeface="+mn-lt"/>
        <a:ea typeface="+mn-ea"/>
        <a:cs typeface="+mn-cs"/>
      </a:defRPr>
    </a:lvl6pPr>
    <a:lvl7pPr marL="4866162" algn="l" defTabSz="1622054" rtl="0" eaLnBrk="1" latinLnBrk="0" hangingPunct="1">
      <a:defRPr sz="2129" kern="1200">
        <a:solidFill>
          <a:schemeClr val="tx1"/>
        </a:solidFill>
        <a:latin typeface="+mn-lt"/>
        <a:ea typeface="+mn-ea"/>
        <a:cs typeface="+mn-cs"/>
      </a:defRPr>
    </a:lvl7pPr>
    <a:lvl8pPr marL="5677190" algn="l" defTabSz="1622054" rtl="0" eaLnBrk="1" latinLnBrk="0" hangingPunct="1">
      <a:defRPr sz="2129" kern="1200">
        <a:solidFill>
          <a:schemeClr val="tx1"/>
        </a:solidFill>
        <a:latin typeface="+mn-lt"/>
        <a:ea typeface="+mn-ea"/>
        <a:cs typeface="+mn-cs"/>
      </a:defRPr>
    </a:lvl8pPr>
    <a:lvl9pPr marL="6488217" algn="l" defTabSz="1622054" rtl="0" eaLnBrk="1" latinLnBrk="0" hangingPunct="1">
      <a:defRPr sz="21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B489-1146-503C-F35D-CC57F9CC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CF6A08-2B91-18CF-9E8A-C9A7B8F5B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872C21-C228-5C3A-0866-0769D8CEB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564EDB-715E-776B-B3C3-D135A04F2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785D3-CF81-C344-98FA-A76714BA2A2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9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2F7E4-0495-BD72-56B2-D836814F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15F909-78FA-2841-A0AC-A3714C62B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D397FB-5E01-655C-03EB-AC00D8192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7274DA-3D71-BDEA-1C22-516719EEF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785D3-CF81-C344-98FA-A76714BA2A2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966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3534924"/>
            <a:ext cx="10364550" cy="7519835"/>
          </a:xfrm>
        </p:spPr>
        <p:txBody>
          <a:bodyPr anchor="b"/>
          <a:lstStyle>
            <a:lvl1pPr algn="ctr">
              <a:defRPr sz="80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11344752"/>
            <a:ext cx="9145191" cy="5214884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76" indent="0" algn="ctr">
              <a:buNone/>
              <a:defRPr sz="2667"/>
            </a:lvl2pPr>
            <a:lvl3pPr marL="1219352" indent="0" algn="ctr">
              <a:buNone/>
              <a:defRPr sz="2400"/>
            </a:lvl3pPr>
            <a:lvl4pPr marL="1829029" indent="0" algn="ctr">
              <a:buNone/>
              <a:defRPr sz="2134"/>
            </a:lvl4pPr>
            <a:lvl5pPr marL="2438705" indent="0" algn="ctr">
              <a:buNone/>
              <a:defRPr sz="2134"/>
            </a:lvl5pPr>
            <a:lvl6pPr marL="3048381" indent="0" algn="ctr">
              <a:buNone/>
              <a:defRPr sz="2134"/>
            </a:lvl6pPr>
            <a:lvl7pPr marL="3658057" indent="0" algn="ctr">
              <a:buNone/>
              <a:defRPr sz="2134"/>
            </a:lvl7pPr>
            <a:lvl8pPr marL="4267733" indent="0" algn="ctr">
              <a:buNone/>
              <a:defRPr sz="2134"/>
            </a:lvl8pPr>
            <a:lvl9pPr marL="4877410" indent="0" algn="ctr">
              <a:buNone/>
              <a:defRPr sz="2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17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09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5384888"/>
            <a:ext cx="10516970" cy="8984801"/>
          </a:xfrm>
        </p:spPr>
        <p:txBody>
          <a:bodyPr anchor="b"/>
          <a:lstStyle>
            <a:lvl1pPr>
              <a:defRPr sz="80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14454688"/>
            <a:ext cx="10516970" cy="472489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676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35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9029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4pPr>
            <a:lvl5pPr marL="2438705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5pPr>
            <a:lvl6pPr marL="3048381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6pPr>
            <a:lvl7pPr marL="3658057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7pPr>
            <a:lvl8pPr marL="4267733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8pPr>
            <a:lvl9pPr marL="4877410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647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5749874"/>
            <a:ext cx="5182275" cy="13704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5749874"/>
            <a:ext cx="5182275" cy="13704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06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1149979"/>
            <a:ext cx="10516970" cy="417491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5294885"/>
            <a:ext cx="5158458" cy="259494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76" indent="0">
              <a:buNone/>
              <a:defRPr sz="2667" b="1"/>
            </a:lvl2pPr>
            <a:lvl3pPr marL="1219352" indent="0">
              <a:buNone/>
              <a:defRPr sz="2400" b="1"/>
            </a:lvl3pPr>
            <a:lvl4pPr marL="1829029" indent="0">
              <a:buNone/>
              <a:defRPr sz="2134" b="1"/>
            </a:lvl4pPr>
            <a:lvl5pPr marL="2438705" indent="0">
              <a:buNone/>
              <a:defRPr sz="2134" b="1"/>
            </a:lvl5pPr>
            <a:lvl6pPr marL="3048381" indent="0">
              <a:buNone/>
              <a:defRPr sz="2134" b="1"/>
            </a:lvl6pPr>
            <a:lvl7pPr marL="3658057" indent="0">
              <a:buNone/>
              <a:defRPr sz="2134" b="1"/>
            </a:lvl7pPr>
            <a:lvl8pPr marL="4267733" indent="0">
              <a:buNone/>
              <a:defRPr sz="2134" b="1"/>
            </a:lvl8pPr>
            <a:lvl9pPr marL="4877410" indent="0">
              <a:buNone/>
              <a:defRPr sz="2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7889827"/>
            <a:ext cx="5158458" cy="116047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5294885"/>
            <a:ext cx="5183863" cy="259494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76" indent="0">
              <a:buNone/>
              <a:defRPr sz="2667" b="1"/>
            </a:lvl2pPr>
            <a:lvl3pPr marL="1219352" indent="0">
              <a:buNone/>
              <a:defRPr sz="2400" b="1"/>
            </a:lvl3pPr>
            <a:lvl4pPr marL="1829029" indent="0">
              <a:buNone/>
              <a:defRPr sz="2134" b="1"/>
            </a:lvl4pPr>
            <a:lvl5pPr marL="2438705" indent="0">
              <a:buNone/>
              <a:defRPr sz="2134" b="1"/>
            </a:lvl5pPr>
            <a:lvl6pPr marL="3048381" indent="0">
              <a:buNone/>
              <a:defRPr sz="2134" b="1"/>
            </a:lvl6pPr>
            <a:lvl7pPr marL="3658057" indent="0">
              <a:buNone/>
              <a:defRPr sz="2134" b="1"/>
            </a:lvl7pPr>
            <a:lvl8pPr marL="4267733" indent="0">
              <a:buNone/>
              <a:defRPr sz="2134" b="1"/>
            </a:lvl8pPr>
            <a:lvl9pPr marL="4877410" indent="0">
              <a:buNone/>
              <a:defRPr sz="2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7889827"/>
            <a:ext cx="5183863" cy="116047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79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23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17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1439968"/>
            <a:ext cx="3932750" cy="503988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3109937"/>
            <a:ext cx="6173004" cy="15349662"/>
          </a:xfrm>
        </p:spPr>
        <p:txBody>
          <a:bodyPr/>
          <a:lstStyle>
            <a:lvl1pPr>
              <a:defRPr sz="4267"/>
            </a:lvl1pPr>
            <a:lvl2pPr>
              <a:defRPr sz="3734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6479857"/>
            <a:ext cx="3932750" cy="12004738"/>
          </a:xfrm>
        </p:spPr>
        <p:txBody>
          <a:bodyPr/>
          <a:lstStyle>
            <a:lvl1pPr marL="0" indent="0">
              <a:buNone/>
              <a:defRPr sz="2134"/>
            </a:lvl1pPr>
            <a:lvl2pPr marL="609676" indent="0">
              <a:buNone/>
              <a:defRPr sz="1867"/>
            </a:lvl2pPr>
            <a:lvl3pPr marL="1219352" indent="0">
              <a:buNone/>
              <a:defRPr sz="1600"/>
            </a:lvl3pPr>
            <a:lvl4pPr marL="1829029" indent="0">
              <a:buNone/>
              <a:defRPr sz="1334"/>
            </a:lvl4pPr>
            <a:lvl5pPr marL="2438705" indent="0">
              <a:buNone/>
              <a:defRPr sz="1334"/>
            </a:lvl5pPr>
            <a:lvl6pPr marL="3048381" indent="0">
              <a:buNone/>
              <a:defRPr sz="1334"/>
            </a:lvl6pPr>
            <a:lvl7pPr marL="3658057" indent="0">
              <a:buNone/>
              <a:defRPr sz="1334"/>
            </a:lvl7pPr>
            <a:lvl8pPr marL="4267733" indent="0">
              <a:buNone/>
              <a:defRPr sz="1334"/>
            </a:lvl8pPr>
            <a:lvl9pPr marL="4877410" indent="0">
              <a:buNone/>
              <a:defRPr sz="133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519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1439968"/>
            <a:ext cx="3932750" cy="503988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3109937"/>
            <a:ext cx="6173004" cy="1534966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676" indent="0">
              <a:buNone/>
              <a:defRPr sz="3734"/>
            </a:lvl2pPr>
            <a:lvl3pPr marL="1219352" indent="0">
              <a:buNone/>
              <a:defRPr sz="3200"/>
            </a:lvl3pPr>
            <a:lvl4pPr marL="1829029" indent="0">
              <a:buNone/>
              <a:defRPr sz="2667"/>
            </a:lvl4pPr>
            <a:lvl5pPr marL="2438705" indent="0">
              <a:buNone/>
              <a:defRPr sz="2667"/>
            </a:lvl5pPr>
            <a:lvl6pPr marL="3048381" indent="0">
              <a:buNone/>
              <a:defRPr sz="2667"/>
            </a:lvl6pPr>
            <a:lvl7pPr marL="3658057" indent="0">
              <a:buNone/>
              <a:defRPr sz="2667"/>
            </a:lvl7pPr>
            <a:lvl8pPr marL="4267733" indent="0">
              <a:buNone/>
              <a:defRPr sz="2667"/>
            </a:lvl8pPr>
            <a:lvl9pPr marL="4877410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6479857"/>
            <a:ext cx="3932750" cy="12004738"/>
          </a:xfrm>
        </p:spPr>
        <p:txBody>
          <a:bodyPr/>
          <a:lstStyle>
            <a:lvl1pPr marL="0" indent="0">
              <a:buNone/>
              <a:defRPr sz="2134"/>
            </a:lvl1pPr>
            <a:lvl2pPr marL="609676" indent="0">
              <a:buNone/>
              <a:defRPr sz="1867"/>
            </a:lvl2pPr>
            <a:lvl3pPr marL="1219352" indent="0">
              <a:buNone/>
              <a:defRPr sz="1600"/>
            </a:lvl3pPr>
            <a:lvl4pPr marL="1829029" indent="0">
              <a:buNone/>
              <a:defRPr sz="1334"/>
            </a:lvl4pPr>
            <a:lvl5pPr marL="2438705" indent="0">
              <a:buNone/>
              <a:defRPr sz="1334"/>
            </a:lvl5pPr>
            <a:lvl6pPr marL="3048381" indent="0">
              <a:buNone/>
              <a:defRPr sz="1334"/>
            </a:lvl6pPr>
            <a:lvl7pPr marL="3658057" indent="0">
              <a:buNone/>
              <a:defRPr sz="1334"/>
            </a:lvl7pPr>
            <a:lvl8pPr marL="4267733" indent="0">
              <a:buNone/>
              <a:defRPr sz="1334"/>
            </a:lvl8pPr>
            <a:lvl9pPr marL="4877410" indent="0">
              <a:buNone/>
              <a:defRPr sz="133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11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20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1149975"/>
            <a:ext cx="2629242" cy="183045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1149975"/>
            <a:ext cx="7735307" cy="18304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091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1149979"/>
            <a:ext cx="10516970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5749874"/>
            <a:ext cx="10516970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20019564"/>
            <a:ext cx="2743557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451A2-FA77-46CD-8303-81467264724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20019564"/>
            <a:ext cx="4115336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20019564"/>
            <a:ext cx="2743557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23909-A9AB-4836-9167-C06B60D590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93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352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38" indent="-304838" algn="l" defTabSz="1219352" rtl="0" eaLnBrk="1" latinLnBrk="0" hangingPunct="1">
        <a:lnSpc>
          <a:spcPct val="90000"/>
        </a:lnSpc>
        <a:spcBef>
          <a:spcPts val="1334"/>
        </a:spcBef>
        <a:buFont typeface="Arial" panose="020B0604020202020204" pitchFamily="34" charset="0"/>
        <a:buChar char="•"/>
        <a:defRPr sz="3734" kern="1200">
          <a:solidFill>
            <a:schemeClr val="tx1"/>
          </a:solidFill>
          <a:latin typeface="+mn-lt"/>
          <a:ea typeface="+mn-ea"/>
          <a:cs typeface="+mn-cs"/>
        </a:defRPr>
      </a:lvl1pPr>
      <a:lvl2pPr marL="914514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191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867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543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219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895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572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48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76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352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029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705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381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057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733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10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4.png"/><Relationship Id="rId26" Type="http://schemas.openxmlformats.org/officeDocument/2006/relationships/image" Target="../media/image12.png"/><Relationship Id="rId39" Type="http://schemas.openxmlformats.org/officeDocument/2006/relationships/image" Target="../media/image25.png"/><Relationship Id="rId21" Type="http://schemas.openxmlformats.org/officeDocument/2006/relationships/image" Target="../media/image7.png"/><Relationship Id="rId34" Type="http://schemas.openxmlformats.org/officeDocument/2006/relationships/image" Target="../media/image20.png"/><Relationship Id="rId42" Type="http://schemas.openxmlformats.org/officeDocument/2006/relationships/image" Target="../media/image28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image" Target="../media/image2.png"/><Relationship Id="rId29" Type="http://schemas.openxmlformats.org/officeDocument/2006/relationships/image" Target="../media/image1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0.png"/><Relationship Id="rId32" Type="http://schemas.openxmlformats.org/officeDocument/2006/relationships/image" Target="../media/image18.png"/><Relationship Id="rId37" Type="http://schemas.openxmlformats.org/officeDocument/2006/relationships/image" Target="../media/image23.png"/><Relationship Id="rId40" Type="http://schemas.openxmlformats.org/officeDocument/2006/relationships/image" Target="../media/image26.png"/><Relationship Id="rId45" Type="http://schemas.openxmlformats.org/officeDocument/2006/relationships/image" Target="../media/image31.png"/><Relationship Id="rId5" Type="http://schemas.openxmlformats.org/officeDocument/2006/relationships/tags" Target="../tags/tag5.xml"/><Relationship Id="rId15" Type="http://schemas.openxmlformats.org/officeDocument/2006/relationships/image" Target="../media/image1.png"/><Relationship Id="rId23" Type="http://schemas.openxmlformats.org/officeDocument/2006/relationships/image" Target="../media/image9.png"/><Relationship Id="rId28" Type="http://schemas.openxmlformats.org/officeDocument/2006/relationships/image" Target="../media/image14.png"/><Relationship Id="rId36" Type="http://schemas.openxmlformats.org/officeDocument/2006/relationships/image" Target="../media/image22.png"/><Relationship Id="rId10" Type="http://schemas.openxmlformats.org/officeDocument/2006/relationships/tags" Target="../tags/tag10.xml"/><Relationship Id="rId19" Type="http://schemas.openxmlformats.org/officeDocument/2006/relationships/image" Target="../media/image5.png"/><Relationship Id="rId31" Type="http://schemas.openxmlformats.org/officeDocument/2006/relationships/image" Target="../media/image17.png"/><Relationship Id="rId44" Type="http://schemas.openxmlformats.org/officeDocument/2006/relationships/image" Target="../media/image30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1.xml"/><Relationship Id="rId22" Type="http://schemas.openxmlformats.org/officeDocument/2006/relationships/image" Target="../media/image8.png"/><Relationship Id="rId27" Type="http://schemas.openxmlformats.org/officeDocument/2006/relationships/image" Target="../media/image13.png"/><Relationship Id="rId30" Type="http://schemas.openxmlformats.org/officeDocument/2006/relationships/image" Target="../media/image16.png"/><Relationship Id="rId35" Type="http://schemas.openxmlformats.org/officeDocument/2006/relationships/image" Target="../media/image21.png"/><Relationship Id="rId43" Type="http://schemas.openxmlformats.org/officeDocument/2006/relationships/image" Target="../media/image29.png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image" Target="../media/image3.png"/><Relationship Id="rId25" Type="http://schemas.openxmlformats.org/officeDocument/2006/relationships/image" Target="../media/image11.png"/><Relationship Id="rId33" Type="http://schemas.openxmlformats.org/officeDocument/2006/relationships/image" Target="../media/image19.png"/><Relationship Id="rId38" Type="http://schemas.openxmlformats.org/officeDocument/2006/relationships/image" Target="../media/image24.png"/><Relationship Id="rId46" Type="http://schemas.openxmlformats.org/officeDocument/2006/relationships/image" Target="../media/image32.png"/><Relationship Id="rId20" Type="http://schemas.openxmlformats.org/officeDocument/2006/relationships/image" Target="../media/image6.png"/><Relationship Id="rId41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34" Type="http://schemas.openxmlformats.org/officeDocument/2006/relationships/image" Target="../media/image64.jpe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6.jpg"/><Relationship Id="rId20" Type="http://schemas.openxmlformats.org/officeDocument/2006/relationships/image" Target="../media/image50.png"/><Relationship Id="rId29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32" Type="http://schemas.openxmlformats.org/officeDocument/2006/relationships/image" Target="../media/image62.jpg"/><Relationship Id="rId5" Type="http://schemas.openxmlformats.org/officeDocument/2006/relationships/image" Target="../media/image35.png"/><Relationship Id="rId15" Type="http://schemas.openxmlformats.org/officeDocument/2006/relationships/image" Target="../media/image45.jp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40.png"/><Relationship Id="rId19" Type="http://schemas.openxmlformats.org/officeDocument/2006/relationships/image" Target="../media/image49.jpg"/><Relationship Id="rId31" Type="http://schemas.openxmlformats.org/officeDocument/2006/relationships/image" Target="../media/image61.jpe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jpeg"/><Relationship Id="rId35" Type="http://schemas.openxmlformats.org/officeDocument/2006/relationships/image" Target="../media/image32.png"/><Relationship Id="rId8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584B-91C9-9EC5-3445-35D24A76F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0C869553-EDBE-312D-B798-2742C43F1528}"/>
              </a:ext>
            </a:extLst>
          </p:cNvPr>
          <p:cNvGrpSpPr/>
          <p:nvPr/>
        </p:nvGrpSpPr>
        <p:grpSpPr>
          <a:xfrm>
            <a:off x="-517317" y="116576"/>
            <a:ext cx="12710905" cy="11654919"/>
            <a:chOff x="-517317" y="116576"/>
            <a:chExt cx="12710905" cy="11654919"/>
          </a:xfrm>
        </p:grpSpPr>
        <p:sp>
          <p:nvSpPr>
            <p:cNvPr id="98" name="圆角矩形 97">
              <a:extLst>
                <a:ext uri="{FF2B5EF4-FFF2-40B4-BE49-F238E27FC236}">
                  <a16:creationId xmlns:a16="http://schemas.microsoft.com/office/drawing/2014/main" id="{66D1B952-7FC9-0BAC-7CDD-66C86EA81233}"/>
                </a:ext>
              </a:extLst>
            </p:cNvPr>
            <p:cNvSpPr/>
            <p:nvPr/>
          </p:nvSpPr>
          <p:spPr>
            <a:xfrm>
              <a:off x="8919430" y="2254763"/>
              <a:ext cx="2867896" cy="609443"/>
            </a:xfrm>
            <a:prstGeom prst="roundRect">
              <a:avLst>
                <a:gd name="adj" fmla="val 1696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7" name="圆角矩形 96">
              <a:extLst>
                <a:ext uri="{FF2B5EF4-FFF2-40B4-BE49-F238E27FC236}">
                  <a16:creationId xmlns:a16="http://schemas.microsoft.com/office/drawing/2014/main" id="{DBCD1340-2DE2-A06A-EA1D-4797DBE51D4A}"/>
                </a:ext>
              </a:extLst>
            </p:cNvPr>
            <p:cNvSpPr/>
            <p:nvPr/>
          </p:nvSpPr>
          <p:spPr>
            <a:xfrm>
              <a:off x="3730982" y="2280928"/>
              <a:ext cx="4588334" cy="583278"/>
            </a:xfrm>
            <a:prstGeom prst="roundRect">
              <a:avLst>
                <a:gd name="adj" fmla="val 1696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6" name="圆角矩形 95">
              <a:extLst>
                <a:ext uri="{FF2B5EF4-FFF2-40B4-BE49-F238E27FC236}">
                  <a16:creationId xmlns:a16="http://schemas.microsoft.com/office/drawing/2014/main" id="{753E441D-0E47-2488-30CB-9B31E5184506}"/>
                </a:ext>
              </a:extLst>
            </p:cNvPr>
            <p:cNvSpPr/>
            <p:nvPr/>
          </p:nvSpPr>
          <p:spPr>
            <a:xfrm>
              <a:off x="419749" y="2273364"/>
              <a:ext cx="2780271" cy="613606"/>
            </a:xfrm>
            <a:prstGeom prst="roundRect">
              <a:avLst>
                <a:gd name="adj" fmla="val 1696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F4AED1B-F47C-5DA6-ABF7-7E7E7B872DAF}"/>
                </a:ext>
              </a:extLst>
            </p:cNvPr>
            <p:cNvSpPr txBox="1"/>
            <p:nvPr/>
          </p:nvSpPr>
          <p:spPr>
            <a:xfrm>
              <a:off x="0" y="116576"/>
              <a:ext cx="12193588" cy="1341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4000" b="1" dirty="0">
                  <a:solidFill>
                    <a:schemeClr val="accent5">
                      <a:lumMod val="75000"/>
                    </a:schemeClr>
                  </a:solidFill>
                </a:rPr>
                <a:t>Experiment1: more naturalistic value learning task</a:t>
              </a:r>
            </a:p>
            <a:p>
              <a:pPr algn="ctr"/>
              <a:endParaRPr kumimoji="1" lang="zh-CN" altLang="en-US" sz="40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4368DCF-DF3B-A67C-0AA5-824C6905DC38}"/>
                </a:ext>
              </a:extLst>
            </p:cNvPr>
            <p:cNvSpPr txBox="1"/>
            <p:nvPr/>
          </p:nvSpPr>
          <p:spPr>
            <a:xfrm>
              <a:off x="0" y="696593"/>
              <a:ext cx="12193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200" dirty="0">
                  <a:solidFill>
                    <a:schemeClr val="bg2">
                      <a:lumMod val="50000"/>
                    </a:schemeClr>
                  </a:solidFill>
                </a:rPr>
                <a:t>Playing chef : recommending the meals</a:t>
              </a:r>
              <a:endParaRPr kumimoji="1" lang="zh-CN" altLang="en-US" sz="3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20B6EE7-0903-D486-392F-FB76214DC9EB}"/>
                </a:ext>
              </a:extLst>
            </p:cNvPr>
            <p:cNvSpPr txBox="1"/>
            <p:nvPr/>
          </p:nvSpPr>
          <p:spPr>
            <a:xfrm>
              <a:off x="507393" y="2263129"/>
              <a:ext cx="262559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Stimulus array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6A8E040-B6CC-D4FA-2DE8-30DB79809AA1}"/>
                </a:ext>
              </a:extLst>
            </p:cNvPr>
            <p:cNvSpPr txBox="1"/>
            <p:nvPr/>
          </p:nvSpPr>
          <p:spPr>
            <a:xfrm>
              <a:off x="4462069" y="2268416"/>
              <a:ext cx="31917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Composite choice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AA60BA9-EECE-076C-80CF-6D99022224D0}"/>
                </a:ext>
              </a:extLst>
            </p:cNvPr>
            <p:cNvGrpSpPr/>
            <p:nvPr/>
          </p:nvGrpSpPr>
          <p:grpSpPr>
            <a:xfrm>
              <a:off x="1449884" y="3986266"/>
              <a:ext cx="736184" cy="730350"/>
              <a:chOff x="141366" y="2036009"/>
              <a:chExt cx="736184" cy="730350"/>
            </a:xfrm>
          </p:grpSpPr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3C083F50-5F12-2920-11BA-8CF2E1BB8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7550" y="2046359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22" name="矩形: 圆角 48">
                <a:extLst>
                  <a:ext uri="{FF2B5EF4-FFF2-40B4-BE49-F238E27FC236}">
                    <a16:creationId xmlns:a16="http://schemas.microsoft.com/office/drawing/2014/main" id="{ACE2DC4C-F66B-129B-0F1A-361CB37B003C}"/>
                  </a:ext>
                </a:extLst>
              </p:cNvPr>
              <p:cNvSpPr/>
              <p:nvPr/>
            </p:nvSpPr>
            <p:spPr>
              <a:xfrm>
                <a:off x="141366" y="2036009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5FF0FCA-8D31-0F15-96B4-3FAB1FC9D144}"/>
                </a:ext>
              </a:extLst>
            </p:cNvPr>
            <p:cNvGrpSpPr/>
            <p:nvPr/>
          </p:nvGrpSpPr>
          <p:grpSpPr>
            <a:xfrm>
              <a:off x="1468674" y="3174566"/>
              <a:ext cx="736184" cy="721409"/>
              <a:chOff x="141366" y="2836369"/>
              <a:chExt cx="736184" cy="721409"/>
            </a:xfrm>
          </p:grpSpPr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5304CAF3-1A95-37FC-0D18-191BF3A253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7550" y="2837778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25" name="矩形: 圆角 48">
                <a:extLst>
                  <a:ext uri="{FF2B5EF4-FFF2-40B4-BE49-F238E27FC236}">
                    <a16:creationId xmlns:a16="http://schemas.microsoft.com/office/drawing/2014/main" id="{424E86FA-7A4A-3DBF-0AFE-555F55110EDD}"/>
                  </a:ext>
                </a:extLst>
              </p:cNvPr>
              <p:cNvSpPr/>
              <p:nvPr/>
            </p:nvSpPr>
            <p:spPr>
              <a:xfrm>
                <a:off x="141366" y="2836369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4537DE-0E45-FD26-70A1-C238EA7EFB28}"/>
                </a:ext>
              </a:extLst>
            </p:cNvPr>
            <p:cNvGrpSpPr/>
            <p:nvPr/>
          </p:nvGrpSpPr>
          <p:grpSpPr>
            <a:xfrm>
              <a:off x="1441792" y="4817258"/>
              <a:ext cx="744276" cy="737806"/>
              <a:chOff x="141366" y="3637370"/>
              <a:chExt cx="744276" cy="737806"/>
            </a:xfrm>
          </p:grpSpPr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D494AE1A-C4FC-1A87-8A8E-88FA39C9DF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5642" y="3655176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28" name="矩形: 圆角 48">
                <a:extLst>
                  <a:ext uri="{FF2B5EF4-FFF2-40B4-BE49-F238E27FC236}">
                    <a16:creationId xmlns:a16="http://schemas.microsoft.com/office/drawing/2014/main" id="{FA26E90B-11BD-8CD1-4C88-637234C66938}"/>
                  </a:ext>
                </a:extLst>
              </p:cNvPr>
              <p:cNvSpPr/>
              <p:nvPr/>
            </p:nvSpPr>
            <p:spPr>
              <a:xfrm>
                <a:off x="141366" y="3637370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1DE3386-E2D4-6A5B-55A9-36858FF7DFCE}"/>
                </a:ext>
              </a:extLst>
            </p:cNvPr>
            <p:cNvGrpSpPr/>
            <p:nvPr/>
          </p:nvGrpSpPr>
          <p:grpSpPr>
            <a:xfrm>
              <a:off x="583678" y="3979927"/>
              <a:ext cx="744276" cy="725834"/>
              <a:chOff x="992282" y="2030175"/>
              <a:chExt cx="744276" cy="725834"/>
            </a:xfrm>
          </p:grpSpPr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8064A5C6-41E4-A03C-4B92-E8A354133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558" y="2030175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31" name="矩形: 圆角 48">
                <a:extLst>
                  <a:ext uri="{FF2B5EF4-FFF2-40B4-BE49-F238E27FC236}">
                    <a16:creationId xmlns:a16="http://schemas.microsoft.com/office/drawing/2014/main" id="{383DFA75-87E2-884D-803F-866DBA8BCA66}"/>
                  </a:ext>
                </a:extLst>
              </p:cNvPr>
              <p:cNvSpPr/>
              <p:nvPr/>
            </p:nvSpPr>
            <p:spPr>
              <a:xfrm>
                <a:off x="992282" y="2036009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523517EF-91F2-3CA3-C866-548A50E4B8B4}"/>
                </a:ext>
              </a:extLst>
            </p:cNvPr>
            <p:cNvGrpSpPr/>
            <p:nvPr/>
          </p:nvGrpSpPr>
          <p:grpSpPr>
            <a:xfrm>
              <a:off x="2331654" y="4817258"/>
              <a:ext cx="744276" cy="723672"/>
              <a:chOff x="992282" y="2837778"/>
              <a:chExt cx="744276" cy="723672"/>
            </a:xfrm>
          </p:grpSpPr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24E12539-F5DF-E23B-F6F0-778526089C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558" y="2837778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34" name="矩形: 圆角 48">
                <a:extLst>
                  <a:ext uri="{FF2B5EF4-FFF2-40B4-BE49-F238E27FC236}">
                    <a16:creationId xmlns:a16="http://schemas.microsoft.com/office/drawing/2014/main" id="{95AD98F4-A176-5224-FFD3-7AC691A6812C}"/>
                  </a:ext>
                </a:extLst>
              </p:cNvPr>
              <p:cNvSpPr/>
              <p:nvPr/>
            </p:nvSpPr>
            <p:spPr>
              <a:xfrm>
                <a:off x="992282" y="2841450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2AF0F62B-737E-7F07-D4FF-80C34D622A02}"/>
                </a:ext>
              </a:extLst>
            </p:cNvPr>
            <p:cNvGrpSpPr/>
            <p:nvPr/>
          </p:nvGrpSpPr>
          <p:grpSpPr>
            <a:xfrm>
              <a:off x="583678" y="3174565"/>
              <a:ext cx="746062" cy="740980"/>
              <a:chOff x="1736139" y="3747826"/>
              <a:chExt cx="746062" cy="740980"/>
            </a:xfrm>
          </p:grpSpPr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AA09A886-FF36-E5C5-8E18-7A04C7610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2201" y="3768806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37" name="矩形: 圆角 48">
                <a:extLst>
                  <a:ext uri="{FF2B5EF4-FFF2-40B4-BE49-F238E27FC236}">
                    <a16:creationId xmlns:a16="http://schemas.microsoft.com/office/drawing/2014/main" id="{4582ED7E-6418-C4A0-2784-91EAA822AFCD}"/>
                  </a:ext>
                </a:extLst>
              </p:cNvPr>
              <p:cNvSpPr/>
              <p:nvPr/>
            </p:nvSpPr>
            <p:spPr>
              <a:xfrm>
                <a:off x="1736139" y="3747826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7AED8BA-F3DA-5302-30E5-E91364B9AA4B}"/>
                </a:ext>
              </a:extLst>
            </p:cNvPr>
            <p:cNvGrpSpPr/>
            <p:nvPr/>
          </p:nvGrpSpPr>
          <p:grpSpPr>
            <a:xfrm>
              <a:off x="567494" y="4818668"/>
              <a:ext cx="736184" cy="720000"/>
              <a:chOff x="1860446" y="2046359"/>
              <a:chExt cx="736184" cy="720000"/>
            </a:xfrm>
          </p:grpSpPr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EA6DE3AE-F359-D178-7950-F3C4F8C6E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6630" y="2046359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40" name="矩形: 圆角 48">
                <a:extLst>
                  <a:ext uri="{FF2B5EF4-FFF2-40B4-BE49-F238E27FC236}">
                    <a16:creationId xmlns:a16="http://schemas.microsoft.com/office/drawing/2014/main" id="{024FF2F9-BE0A-3081-920A-AA5F532A138B}"/>
                  </a:ext>
                </a:extLst>
              </p:cNvPr>
              <p:cNvSpPr/>
              <p:nvPr/>
            </p:nvSpPr>
            <p:spPr>
              <a:xfrm>
                <a:off x="1860446" y="2046359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3DD00E3C-5E54-C69D-67E8-AB255FF9736A}"/>
                </a:ext>
              </a:extLst>
            </p:cNvPr>
            <p:cNvGrpSpPr/>
            <p:nvPr/>
          </p:nvGrpSpPr>
          <p:grpSpPr>
            <a:xfrm>
              <a:off x="2334104" y="3996616"/>
              <a:ext cx="736184" cy="732512"/>
              <a:chOff x="2788899" y="2841450"/>
              <a:chExt cx="736184" cy="732512"/>
            </a:xfrm>
          </p:grpSpPr>
          <p:pic>
            <p:nvPicPr>
              <p:cNvPr id="42" name="图片 41">
                <a:extLst>
                  <a:ext uri="{FF2B5EF4-FFF2-40B4-BE49-F238E27FC236}">
                    <a16:creationId xmlns:a16="http://schemas.microsoft.com/office/drawing/2014/main" id="{CC54743A-6BEE-C59F-4706-AA92B3EFF1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05083" y="2853962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43" name="矩形: 圆角 48">
                <a:extLst>
                  <a:ext uri="{FF2B5EF4-FFF2-40B4-BE49-F238E27FC236}">
                    <a16:creationId xmlns:a16="http://schemas.microsoft.com/office/drawing/2014/main" id="{0839CE1B-C07F-A601-89CE-1A5927F16977}"/>
                  </a:ext>
                </a:extLst>
              </p:cNvPr>
              <p:cNvSpPr/>
              <p:nvPr/>
            </p:nvSpPr>
            <p:spPr>
              <a:xfrm>
                <a:off x="2788899" y="2841450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194DFC92-6383-EE96-E50A-C35CDD73B439}"/>
                </a:ext>
              </a:extLst>
            </p:cNvPr>
            <p:cNvGrpSpPr/>
            <p:nvPr/>
          </p:nvGrpSpPr>
          <p:grpSpPr>
            <a:xfrm>
              <a:off x="2327608" y="3174565"/>
              <a:ext cx="736184" cy="720000"/>
              <a:chOff x="2788899" y="3666442"/>
              <a:chExt cx="736184" cy="720000"/>
            </a:xfrm>
          </p:grpSpPr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1BDCF84C-EE88-8500-9800-771FF9BCD8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05083" y="3666442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46" name="矩形: 圆角 48">
                <a:extLst>
                  <a:ext uri="{FF2B5EF4-FFF2-40B4-BE49-F238E27FC236}">
                    <a16:creationId xmlns:a16="http://schemas.microsoft.com/office/drawing/2014/main" id="{56A5399B-430A-3E8A-0573-726D4CF102B1}"/>
                  </a:ext>
                </a:extLst>
              </p:cNvPr>
              <p:cNvSpPr/>
              <p:nvPr/>
            </p:nvSpPr>
            <p:spPr>
              <a:xfrm>
                <a:off x="2788899" y="3666442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9E5BCE37-A152-275A-10B4-C98A024C8CAA}"/>
                </a:ext>
              </a:extLst>
            </p:cNvPr>
            <p:cNvGrpSpPr/>
            <p:nvPr/>
          </p:nvGrpSpPr>
          <p:grpSpPr>
            <a:xfrm>
              <a:off x="4262619" y="3050305"/>
              <a:ext cx="736184" cy="720000"/>
              <a:chOff x="2788899" y="3666442"/>
              <a:chExt cx="736184" cy="720000"/>
            </a:xfrm>
          </p:grpSpPr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A4E1C79A-4F87-E0FD-8E9C-E695139EF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05083" y="3666442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2B3BBB80-D717-41B7-83D4-60BCAFF5CF12}"/>
                  </a:ext>
                </a:extLst>
              </p:cNvPr>
              <p:cNvSpPr/>
              <p:nvPr/>
            </p:nvSpPr>
            <p:spPr>
              <a:xfrm>
                <a:off x="2788899" y="3666442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142DE45F-5EFC-64D5-D23F-328BB38CCD1D}"/>
                </a:ext>
              </a:extLst>
            </p:cNvPr>
            <p:cNvGrpSpPr/>
            <p:nvPr/>
          </p:nvGrpSpPr>
          <p:grpSpPr>
            <a:xfrm>
              <a:off x="5121553" y="3051138"/>
              <a:ext cx="746062" cy="740980"/>
              <a:chOff x="1736139" y="3747826"/>
              <a:chExt cx="746062" cy="740980"/>
            </a:xfrm>
          </p:grpSpPr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447D5289-FB1C-53C4-8020-A1D6C82069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2201" y="3768806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52" name="矩形: 圆角 48">
                <a:extLst>
                  <a:ext uri="{FF2B5EF4-FFF2-40B4-BE49-F238E27FC236}">
                    <a16:creationId xmlns:a16="http://schemas.microsoft.com/office/drawing/2014/main" id="{E6AA3486-9C15-B986-7152-86908030B630}"/>
                  </a:ext>
                </a:extLst>
              </p:cNvPr>
              <p:cNvSpPr/>
              <p:nvPr/>
            </p:nvSpPr>
            <p:spPr>
              <a:xfrm>
                <a:off x="1736139" y="3747826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B3E804C2-6F22-C755-F99C-454DDCA25657}"/>
                </a:ext>
              </a:extLst>
            </p:cNvPr>
            <p:cNvGrpSpPr/>
            <p:nvPr/>
          </p:nvGrpSpPr>
          <p:grpSpPr>
            <a:xfrm>
              <a:off x="5990365" y="3054312"/>
              <a:ext cx="744276" cy="737806"/>
              <a:chOff x="141366" y="3637370"/>
              <a:chExt cx="744276" cy="737806"/>
            </a:xfrm>
          </p:grpSpPr>
          <p:pic>
            <p:nvPicPr>
              <p:cNvPr id="54" name="图片 53">
                <a:extLst>
                  <a:ext uri="{FF2B5EF4-FFF2-40B4-BE49-F238E27FC236}">
                    <a16:creationId xmlns:a16="http://schemas.microsoft.com/office/drawing/2014/main" id="{5DCCC8A0-AFF5-1E73-DA94-CB5D77EC91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5642" y="3655176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55" name="矩形: 圆角 48">
                <a:extLst>
                  <a:ext uri="{FF2B5EF4-FFF2-40B4-BE49-F238E27FC236}">
                    <a16:creationId xmlns:a16="http://schemas.microsoft.com/office/drawing/2014/main" id="{1572534E-4976-8E24-C5B4-6F7D26938DA4}"/>
                  </a:ext>
                </a:extLst>
              </p:cNvPr>
              <p:cNvSpPr/>
              <p:nvPr/>
            </p:nvSpPr>
            <p:spPr>
              <a:xfrm>
                <a:off x="141366" y="3637370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7EF36600-A627-34ED-828F-3C4364E136E7}"/>
                </a:ext>
              </a:extLst>
            </p:cNvPr>
            <p:cNvGrpSpPr/>
            <p:nvPr/>
          </p:nvGrpSpPr>
          <p:grpSpPr>
            <a:xfrm>
              <a:off x="4269463" y="4032824"/>
              <a:ext cx="736184" cy="732512"/>
              <a:chOff x="2788899" y="2841450"/>
              <a:chExt cx="736184" cy="732512"/>
            </a:xfrm>
          </p:grpSpPr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BB3924CB-CDFE-DEA7-A695-9A8D7B0202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05083" y="2853962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58" name="矩形: 圆角 48">
                <a:extLst>
                  <a:ext uri="{FF2B5EF4-FFF2-40B4-BE49-F238E27FC236}">
                    <a16:creationId xmlns:a16="http://schemas.microsoft.com/office/drawing/2014/main" id="{5B567EB3-20D6-358F-7B2B-B93AFE49EC02}"/>
                  </a:ext>
                </a:extLst>
              </p:cNvPr>
              <p:cNvSpPr/>
              <p:nvPr/>
            </p:nvSpPr>
            <p:spPr>
              <a:xfrm>
                <a:off x="2788899" y="2841450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E1D37108-0911-9C6A-5754-1A66A89B8C18}"/>
                </a:ext>
              </a:extLst>
            </p:cNvPr>
            <p:cNvGrpSpPr/>
            <p:nvPr/>
          </p:nvGrpSpPr>
          <p:grpSpPr>
            <a:xfrm>
              <a:off x="5145829" y="4022896"/>
              <a:ext cx="744276" cy="723672"/>
              <a:chOff x="992282" y="2837778"/>
              <a:chExt cx="744276" cy="723672"/>
            </a:xfrm>
          </p:grpSpPr>
          <p:pic>
            <p:nvPicPr>
              <p:cNvPr id="60" name="图片 59">
                <a:extLst>
                  <a:ext uri="{FF2B5EF4-FFF2-40B4-BE49-F238E27FC236}">
                    <a16:creationId xmlns:a16="http://schemas.microsoft.com/office/drawing/2014/main" id="{AAF5961E-DC54-CF1D-7412-A92AE6234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558" y="2837778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61" name="矩形: 圆角 48">
                <a:extLst>
                  <a:ext uri="{FF2B5EF4-FFF2-40B4-BE49-F238E27FC236}">
                    <a16:creationId xmlns:a16="http://schemas.microsoft.com/office/drawing/2014/main" id="{727572B1-17CE-5BD4-0874-F4DEAF0F8627}"/>
                  </a:ext>
                </a:extLst>
              </p:cNvPr>
              <p:cNvSpPr/>
              <p:nvPr/>
            </p:nvSpPr>
            <p:spPr>
              <a:xfrm>
                <a:off x="992282" y="2841450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DE9998A3-E4DF-3E42-8FED-26E2FC2DF802}"/>
                </a:ext>
              </a:extLst>
            </p:cNvPr>
            <p:cNvGrpSpPr/>
            <p:nvPr/>
          </p:nvGrpSpPr>
          <p:grpSpPr>
            <a:xfrm>
              <a:off x="5990365" y="4022896"/>
              <a:ext cx="744276" cy="723672"/>
              <a:chOff x="992282" y="2837778"/>
              <a:chExt cx="744276" cy="723672"/>
            </a:xfrm>
          </p:grpSpPr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85E59A5C-6A97-0359-572F-8726076C92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558" y="2837778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64" name="矩形: 圆角 48">
                <a:extLst>
                  <a:ext uri="{FF2B5EF4-FFF2-40B4-BE49-F238E27FC236}">
                    <a16:creationId xmlns:a16="http://schemas.microsoft.com/office/drawing/2014/main" id="{B8F6B5E8-031F-E905-3D3A-2BD67BD70413}"/>
                  </a:ext>
                </a:extLst>
              </p:cNvPr>
              <p:cNvSpPr/>
              <p:nvPr/>
            </p:nvSpPr>
            <p:spPr>
              <a:xfrm>
                <a:off x="992282" y="2841450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CF495F73-33EA-DA20-7849-0F178782D53B}"/>
                </a:ext>
              </a:extLst>
            </p:cNvPr>
            <p:cNvGrpSpPr/>
            <p:nvPr/>
          </p:nvGrpSpPr>
          <p:grpSpPr>
            <a:xfrm>
              <a:off x="4261371" y="5003601"/>
              <a:ext cx="744276" cy="725834"/>
              <a:chOff x="992282" y="2030175"/>
              <a:chExt cx="744276" cy="725834"/>
            </a:xfrm>
          </p:grpSpPr>
          <p:pic>
            <p:nvPicPr>
              <p:cNvPr id="66" name="图片 65">
                <a:extLst>
                  <a:ext uri="{FF2B5EF4-FFF2-40B4-BE49-F238E27FC236}">
                    <a16:creationId xmlns:a16="http://schemas.microsoft.com/office/drawing/2014/main" id="{4F90F222-D97D-4E0F-5AE5-B36AA986D6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558" y="2030175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67" name="矩形: 圆角 48">
                <a:extLst>
                  <a:ext uri="{FF2B5EF4-FFF2-40B4-BE49-F238E27FC236}">
                    <a16:creationId xmlns:a16="http://schemas.microsoft.com/office/drawing/2014/main" id="{EDDC4D1C-984D-8217-7EF7-6269DE2376ED}"/>
                  </a:ext>
                </a:extLst>
              </p:cNvPr>
              <p:cNvSpPr/>
              <p:nvPr/>
            </p:nvSpPr>
            <p:spPr>
              <a:xfrm>
                <a:off x="992282" y="2036009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F5334CCF-0005-91FA-E755-BB5B19C3905C}"/>
                </a:ext>
              </a:extLst>
            </p:cNvPr>
            <p:cNvGrpSpPr/>
            <p:nvPr/>
          </p:nvGrpSpPr>
          <p:grpSpPr>
            <a:xfrm>
              <a:off x="5137737" y="5003601"/>
              <a:ext cx="736184" cy="730350"/>
              <a:chOff x="141366" y="2036009"/>
              <a:chExt cx="736184" cy="730350"/>
            </a:xfrm>
          </p:grpSpPr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6458E2C6-FC8A-9A31-E8C8-098CE571DA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7550" y="2046359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70" name="矩形: 圆角 48">
                <a:extLst>
                  <a:ext uri="{FF2B5EF4-FFF2-40B4-BE49-F238E27FC236}">
                    <a16:creationId xmlns:a16="http://schemas.microsoft.com/office/drawing/2014/main" id="{6B4E7581-7098-1C2A-D858-5603DC4F1DCE}"/>
                  </a:ext>
                </a:extLst>
              </p:cNvPr>
              <p:cNvSpPr/>
              <p:nvPr/>
            </p:nvSpPr>
            <p:spPr>
              <a:xfrm>
                <a:off x="141366" y="2036009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B64E19DA-2434-FF26-D72B-08321873198C}"/>
                </a:ext>
              </a:extLst>
            </p:cNvPr>
            <p:cNvGrpSpPr/>
            <p:nvPr/>
          </p:nvGrpSpPr>
          <p:grpSpPr>
            <a:xfrm>
              <a:off x="5998457" y="5013951"/>
              <a:ext cx="736184" cy="720000"/>
              <a:chOff x="1860446" y="2046359"/>
              <a:chExt cx="736184" cy="720000"/>
            </a:xfrm>
          </p:grpSpPr>
          <p:pic>
            <p:nvPicPr>
              <p:cNvPr id="72" name="图片 71">
                <a:extLst>
                  <a:ext uri="{FF2B5EF4-FFF2-40B4-BE49-F238E27FC236}">
                    <a16:creationId xmlns:a16="http://schemas.microsoft.com/office/drawing/2014/main" id="{5A6B0D61-1AA9-3AA9-3285-7E046B323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6630" y="2046359"/>
                <a:ext cx="720000" cy="720000"/>
              </a:xfrm>
              <a:prstGeom prst="rect">
                <a:avLst/>
              </a:prstGeom>
              <a:noFill/>
            </p:spPr>
          </p:pic>
          <p:sp>
            <p:nvSpPr>
              <p:cNvPr id="73" name="矩形: 圆角 48">
                <a:extLst>
                  <a:ext uri="{FF2B5EF4-FFF2-40B4-BE49-F238E27FC236}">
                    <a16:creationId xmlns:a16="http://schemas.microsoft.com/office/drawing/2014/main" id="{924DBD3B-D6D0-937D-EBC4-30DAA09F9DB7}"/>
                  </a:ext>
                </a:extLst>
              </p:cNvPr>
              <p:cNvSpPr/>
              <p:nvPr/>
            </p:nvSpPr>
            <p:spPr>
              <a:xfrm>
                <a:off x="1860446" y="2046359"/>
                <a:ext cx="720000" cy="72000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4" name="矩形: 圆角 70">
              <a:extLst>
                <a:ext uri="{FF2B5EF4-FFF2-40B4-BE49-F238E27FC236}">
                  <a16:creationId xmlns:a16="http://schemas.microsoft.com/office/drawing/2014/main" id="{46D3F390-249D-7F62-5B27-970BCCB3FF32}"/>
                </a:ext>
              </a:extLst>
            </p:cNvPr>
            <p:cNvSpPr/>
            <p:nvPr/>
          </p:nvSpPr>
          <p:spPr>
            <a:xfrm>
              <a:off x="3964204" y="2994719"/>
              <a:ext cx="3018514" cy="861781"/>
            </a:xfrm>
            <a:prstGeom prst="roundRect">
              <a:avLst/>
            </a:prstGeom>
            <a:noFill/>
            <a:ln w="41275">
              <a:solidFill>
                <a:srgbClr val="FFE79B">
                  <a:alpha val="96863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0">
              <a:extLst>
                <a:ext uri="{FF2B5EF4-FFF2-40B4-BE49-F238E27FC236}">
                  <a16:creationId xmlns:a16="http://schemas.microsoft.com/office/drawing/2014/main" id="{22495336-53FA-A78F-AE66-137F7F138344}"/>
                </a:ext>
              </a:extLst>
            </p:cNvPr>
            <p:cNvSpPr/>
            <p:nvPr/>
          </p:nvSpPr>
          <p:spPr>
            <a:xfrm>
              <a:off x="3972296" y="3961934"/>
              <a:ext cx="3018514" cy="861781"/>
            </a:xfrm>
            <a:prstGeom prst="roundRect">
              <a:avLst/>
            </a:prstGeom>
            <a:noFill/>
            <a:ln w="41275">
              <a:solidFill>
                <a:srgbClr val="FFE79B">
                  <a:alpha val="96863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: 圆角 70">
              <a:extLst>
                <a:ext uri="{FF2B5EF4-FFF2-40B4-BE49-F238E27FC236}">
                  <a16:creationId xmlns:a16="http://schemas.microsoft.com/office/drawing/2014/main" id="{A70B410D-50D0-0FAD-62C5-29D0C9BBAC1A}"/>
                </a:ext>
              </a:extLst>
            </p:cNvPr>
            <p:cNvSpPr/>
            <p:nvPr/>
          </p:nvSpPr>
          <p:spPr>
            <a:xfrm>
              <a:off x="3972296" y="4940104"/>
              <a:ext cx="3018514" cy="861781"/>
            </a:xfrm>
            <a:prstGeom prst="roundRect">
              <a:avLst/>
            </a:prstGeom>
            <a:noFill/>
            <a:ln w="41275">
              <a:solidFill>
                <a:srgbClr val="FFE79B">
                  <a:alpha val="96863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圆角矩形 76">
              <a:extLst>
                <a:ext uri="{FF2B5EF4-FFF2-40B4-BE49-F238E27FC236}">
                  <a16:creationId xmlns:a16="http://schemas.microsoft.com/office/drawing/2014/main" id="{869A451D-2115-62D1-2694-831371EBB9D7}"/>
                </a:ext>
              </a:extLst>
            </p:cNvPr>
            <p:cNvSpPr/>
            <p:nvPr/>
          </p:nvSpPr>
          <p:spPr>
            <a:xfrm>
              <a:off x="430054" y="2263384"/>
              <a:ext cx="2780271" cy="3803138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0" name="圆角矩形 79">
              <a:extLst>
                <a:ext uri="{FF2B5EF4-FFF2-40B4-BE49-F238E27FC236}">
                  <a16:creationId xmlns:a16="http://schemas.microsoft.com/office/drawing/2014/main" id="{2E12B706-D090-FA02-ED9F-750A102E02C5}"/>
                </a:ext>
              </a:extLst>
            </p:cNvPr>
            <p:cNvSpPr/>
            <p:nvPr/>
          </p:nvSpPr>
          <p:spPr>
            <a:xfrm>
              <a:off x="3729528" y="2263384"/>
              <a:ext cx="4589789" cy="3803138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82" name="图片 81">
              <a:extLst>
                <a:ext uri="{FF2B5EF4-FFF2-40B4-BE49-F238E27FC236}">
                  <a16:creationId xmlns:a16="http://schemas.microsoft.com/office/drawing/2014/main" id="{C0367857-1660-7679-1D72-5127435DB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064952" y="3217238"/>
              <a:ext cx="432250" cy="432250"/>
            </a:xfrm>
            <a:prstGeom prst="rect">
              <a:avLst/>
            </a:prstGeom>
            <a:noFill/>
          </p:spPr>
        </p:pic>
        <p:pic>
          <p:nvPicPr>
            <p:cNvPr id="83" name="图片 82">
              <a:extLst>
                <a:ext uri="{FF2B5EF4-FFF2-40B4-BE49-F238E27FC236}">
                  <a16:creationId xmlns:a16="http://schemas.microsoft.com/office/drawing/2014/main" id="{EC4466D8-08DD-2864-5901-0274A7892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441344" y="3217238"/>
              <a:ext cx="432250" cy="432250"/>
            </a:xfrm>
            <a:prstGeom prst="rect">
              <a:avLst/>
            </a:prstGeom>
            <a:noFill/>
          </p:spPr>
        </p:pic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5A76A624-6DBE-A869-1AD4-9F8EE8B64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816923" y="3210928"/>
              <a:ext cx="432250" cy="432250"/>
            </a:xfrm>
            <a:prstGeom prst="rect">
              <a:avLst/>
            </a:prstGeom>
            <a:noFill/>
          </p:spPr>
        </p:pic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F3504A55-8D64-FAFA-5288-E6E9BC44A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247979" y="4128682"/>
              <a:ext cx="432250" cy="432250"/>
            </a:xfrm>
            <a:prstGeom prst="rect">
              <a:avLst/>
            </a:prstGeom>
            <a:noFill/>
          </p:spPr>
        </p:pic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67BFB4AC-BEE0-E53F-15EE-1622F50DD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623558" y="4122372"/>
              <a:ext cx="432250" cy="432250"/>
            </a:xfrm>
            <a:prstGeom prst="rect">
              <a:avLst/>
            </a:prstGeom>
            <a:noFill/>
          </p:spPr>
        </p:pic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1CEDE8B0-571E-17A7-219A-8941F570A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464104" y="5152376"/>
              <a:ext cx="432250" cy="432250"/>
            </a:xfrm>
            <a:prstGeom prst="rect">
              <a:avLst/>
            </a:prstGeom>
            <a:noFill/>
          </p:spPr>
        </p:pic>
        <p:sp>
          <p:nvSpPr>
            <p:cNvPr id="89" name="圆角矩形 88">
              <a:extLst>
                <a:ext uri="{FF2B5EF4-FFF2-40B4-BE49-F238E27FC236}">
                  <a16:creationId xmlns:a16="http://schemas.microsoft.com/office/drawing/2014/main" id="{F8055F7B-7C23-AF9D-3517-FA41D0793F6E}"/>
                </a:ext>
              </a:extLst>
            </p:cNvPr>
            <p:cNvSpPr/>
            <p:nvPr/>
          </p:nvSpPr>
          <p:spPr>
            <a:xfrm>
              <a:off x="8929735" y="2263383"/>
              <a:ext cx="2860643" cy="3803138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ED53AAC5-DB48-4C1F-477E-FA487E06773C}"/>
                </a:ext>
              </a:extLst>
            </p:cNvPr>
            <p:cNvSpPr txBox="1"/>
            <p:nvPr/>
          </p:nvSpPr>
          <p:spPr>
            <a:xfrm>
              <a:off x="8988992" y="2315188"/>
              <a:ext cx="275646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Score feedback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1ACF02DA-E9B8-FED2-FA70-0845AE95D465}"/>
                </a:ext>
              </a:extLst>
            </p:cNvPr>
            <p:cNvSpPr txBox="1"/>
            <p:nvPr/>
          </p:nvSpPr>
          <p:spPr>
            <a:xfrm>
              <a:off x="291889" y="1390758"/>
              <a:ext cx="28664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Within one trial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59400A18-2FF8-F042-8B3A-D3CD55E2777E}"/>
                </a:ext>
              </a:extLst>
            </p:cNvPr>
            <p:cNvSpPr txBox="1"/>
            <p:nvPr/>
          </p:nvSpPr>
          <p:spPr>
            <a:xfrm>
              <a:off x="875977" y="6313587"/>
              <a:ext cx="1044163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Repeated trials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·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Self-paced ·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at score of 100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·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max 30 trials (3D)/ 50 trials (4D)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542823E7-8707-B965-3708-A13C3BAB3579}"/>
                </a:ext>
              </a:extLst>
            </p:cNvPr>
            <p:cNvCxnSpPr/>
            <p:nvPr/>
          </p:nvCxnSpPr>
          <p:spPr>
            <a:xfrm>
              <a:off x="418158" y="6289340"/>
              <a:ext cx="11357272" cy="0"/>
            </a:xfrm>
            <a:prstGeom prst="line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06777F0-A86D-F45D-A0DE-426468F4CCFE}"/>
                </a:ext>
              </a:extLst>
            </p:cNvPr>
            <p:cNvSpPr txBox="1"/>
            <p:nvPr/>
          </p:nvSpPr>
          <p:spPr>
            <a:xfrm>
              <a:off x="351890" y="7405380"/>
              <a:ext cx="404668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Stimulus feature space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CB4570A9-7633-723C-9099-62029B4941E6}"/>
                </a:ext>
              </a:extLst>
            </p:cNvPr>
            <p:cNvSpPr txBox="1"/>
            <p:nvPr/>
          </p:nvSpPr>
          <p:spPr>
            <a:xfrm>
              <a:off x="1220062" y="8088199"/>
              <a:ext cx="24948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Staple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E7E68320-1237-5811-1F5E-F0E10ADC1081}"/>
                </a:ext>
              </a:extLst>
            </p:cNvPr>
            <p:cNvSpPr txBox="1"/>
            <p:nvPr/>
          </p:nvSpPr>
          <p:spPr>
            <a:xfrm>
              <a:off x="3691876" y="8106945"/>
              <a:ext cx="23445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Dessert 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908BCC64-CD32-DF59-0C9A-484F6B912ADD}"/>
                </a:ext>
              </a:extLst>
            </p:cNvPr>
            <p:cNvSpPr txBox="1"/>
            <p:nvPr/>
          </p:nvSpPr>
          <p:spPr>
            <a:xfrm>
              <a:off x="6525526" y="8087971"/>
              <a:ext cx="18453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Beverage 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EFCF0C8-0C3D-03C0-B53D-3FC46AC1DFFD}"/>
                </a:ext>
              </a:extLst>
            </p:cNvPr>
            <p:cNvSpPr txBox="1"/>
            <p:nvPr/>
          </p:nvSpPr>
          <p:spPr>
            <a:xfrm>
              <a:off x="9424982" y="8117478"/>
              <a:ext cx="13864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Fruit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B44FC8EC-1D7F-95F9-2F23-ADFCEBA10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505" b="44467"/>
            <a:stretch/>
          </p:blipFill>
          <p:spPr>
            <a:xfrm>
              <a:off x="6339908" y="8851564"/>
              <a:ext cx="608507" cy="669227"/>
            </a:xfrm>
            <a:prstGeom prst="rect">
              <a:avLst/>
            </a:prstGeom>
            <a:noFill/>
          </p:spPr>
        </p:pic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5C6C2BC9-C9DD-1A7D-62C7-C0E18ECDC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498" b="44467"/>
            <a:stretch/>
          </p:blipFill>
          <p:spPr>
            <a:xfrm>
              <a:off x="7050141" y="8799111"/>
              <a:ext cx="631514" cy="770748"/>
            </a:xfrm>
            <a:prstGeom prst="rect">
              <a:avLst/>
            </a:prstGeom>
            <a:noFill/>
          </p:spPr>
        </p:pic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0CA63C31-CA95-8F85-89CF-C68A919F8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57005" b="42415"/>
            <a:stretch/>
          </p:blipFill>
          <p:spPr>
            <a:xfrm>
              <a:off x="7809134" y="8820168"/>
              <a:ext cx="575476" cy="770748"/>
            </a:xfrm>
            <a:prstGeom prst="rect">
              <a:avLst/>
            </a:prstGeom>
            <a:noFill/>
          </p:spPr>
        </p:pic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7E34C712-30EB-2359-9D7F-7843EB912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72" t="44557" r="23749" b="5793"/>
            <a:stretch/>
          </p:blipFill>
          <p:spPr>
            <a:xfrm>
              <a:off x="1206281" y="8932398"/>
              <a:ext cx="728463" cy="540000"/>
            </a:xfrm>
            <a:prstGeom prst="rect">
              <a:avLst/>
            </a:prstGeom>
            <a:noFill/>
          </p:spPr>
        </p:pic>
        <p:pic>
          <p:nvPicPr>
            <p:cNvPr id="112" name="图片 111">
              <a:extLst>
                <a:ext uri="{FF2B5EF4-FFF2-40B4-BE49-F238E27FC236}">
                  <a16:creationId xmlns:a16="http://schemas.microsoft.com/office/drawing/2014/main" id="{9F874FB9-C6B6-A6E1-712E-632503D0C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14" t="43361" r="15664"/>
            <a:stretch/>
          </p:blipFill>
          <p:spPr>
            <a:xfrm>
              <a:off x="2013907" y="8918297"/>
              <a:ext cx="739325" cy="612000"/>
            </a:xfrm>
            <a:prstGeom prst="rect">
              <a:avLst/>
            </a:prstGeom>
            <a:noFill/>
          </p:spPr>
        </p:pic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CD206FC0-946E-1ED9-31D2-71100A9ED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32" t="37262" r="17790" b="9525"/>
            <a:stretch/>
          </p:blipFill>
          <p:spPr>
            <a:xfrm>
              <a:off x="2714124" y="8838786"/>
              <a:ext cx="725003" cy="576000"/>
            </a:xfrm>
            <a:prstGeom prst="rect">
              <a:avLst/>
            </a:prstGeom>
            <a:noFill/>
          </p:spPr>
        </p:pic>
        <p:pic>
          <p:nvPicPr>
            <p:cNvPr id="114" name="图片 113">
              <a:extLst>
                <a:ext uri="{FF2B5EF4-FFF2-40B4-BE49-F238E27FC236}">
                  <a16:creationId xmlns:a16="http://schemas.microsoft.com/office/drawing/2014/main" id="{1F5A9BB5-2358-C58D-5ECF-C1752F96B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80" b="44429"/>
            <a:stretch/>
          </p:blipFill>
          <p:spPr>
            <a:xfrm>
              <a:off x="3676247" y="8768985"/>
              <a:ext cx="804605" cy="803896"/>
            </a:xfrm>
            <a:prstGeom prst="rect">
              <a:avLst/>
            </a:prstGeom>
            <a:noFill/>
          </p:spPr>
        </p:pic>
        <p:pic>
          <p:nvPicPr>
            <p:cNvPr id="115" name="图片 114">
              <a:extLst>
                <a:ext uri="{FF2B5EF4-FFF2-40B4-BE49-F238E27FC236}">
                  <a16:creationId xmlns:a16="http://schemas.microsoft.com/office/drawing/2014/main" id="{2BCD1FF2-CED0-A8D0-CFF5-1338ABDAD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837" b="50123"/>
            <a:stretch/>
          </p:blipFill>
          <p:spPr>
            <a:xfrm>
              <a:off x="4405173" y="8748104"/>
              <a:ext cx="831731" cy="795282"/>
            </a:xfrm>
            <a:prstGeom prst="rect">
              <a:avLst/>
            </a:prstGeom>
            <a:noFill/>
          </p:spPr>
        </p:pic>
        <p:pic>
          <p:nvPicPr>
            <p:cNvPr id="116" name="图片 115">
              <a:extLst>
                <a:ext uri="{FF2B5EF4-FFF2-40B4-BE49-F238E27FC236}">
                  <a16:creationId xmlns:a16="http://schemas.microsoft.com/office/drawing/2014/main" id="{7F0B07CE-8A7C-6131-BC01-6D3649B52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837" b="44429"/>
            <a:stretch/>
          </p:blipFill>
          <p:spPr>
            <a:xfrm>
              <a:off x="5171036" y="8772859"/>
              <a:ext cx="746512" cy="795282"/>
            </a:xfrm>
            <a:prstGeom prst="rect">
              <a:avLst/>
            </a:prstGeom>
            <a:noFill/>
          </p:spPr>
        </p:pic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9D7B2061-9BD4-326B-D85B-ABB8F0C85EF3}"/>
                </a:ext>
              </a:extLst>
            </p:cNvPr>
            <p:cNvSpPr/>
            <p:nvPr/>
          </p:nvSpPr>
          <p:spPr>
            <a:xfrm>
              <a:off x="9807315" y="3009706"/>
              <a:ext cx="1056700" cy="11079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6600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</a:rPr>
                <a:t>78</a:t>
              </a:r>
              <a:endParaRPr lang="zh-CN" altLang="en-US" sz="6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18" name="组合 41">
              <a:extLst>
                <a:ext uri="{FF2B5EF4-FFF2-40B4-BE49-F238E27FC236}">
                  <a16:creationId xmlns:a16="http://schemas.microsoft.com/office/drawing/2014/main" id="{28D2BD7A-E7F7-0EB6-E602-530357B2A519}"/>
                </a:ext>
              </a:extLst>
            </p:cNvPr>
            <p:cNvGrpSpPr/>
            <p:nvPr/>
          </p:nvGrpSpPr>
          <p:grpSpPr>
            <a:xfrm>
              <a:off x="1313234" y="10290629"/>
              <a:ext cx="2092325" cy="533400"/>
              <a:chOff x="11187" y="3801"/>
              <a:chExt cx="3295" cy="840"/>
            </a:xfrm>
          </p:grpSpPr>
          <p:pic>
            <p:nvPicPr>
              <p:cNvPr id="119" name="图片 22" descr="upload_post_object_v2_1058423713">
                <a:extLst>
                  <a:ext uri="{FF2B5EF4-FFF2-40B4-BE49-F238E27FC236}">
                    <a16:creationId xmlns:a16="http://schemas.microsoft.com/office/drawing/2014/main" id="{240D7A61-DF17-EAAB-DF4D-219750D9112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34"/>
              <a:stretch>
                <a:fillRect/>
              </a:stretch>
            </p:blipFill>
            <p:spPr>
              <a:xfrm>
                <a:off x="11187" y="3846"/>
                <a:ext cx="915" cy="727"/>
              </a:xfrm>
              <a:prstGeom prst="rect">
                <a:avLst/>
              </a:prstGeom>
              <a:noFill/>
            </p:spPr>
          </p:pic>
          <p:pic>
            <p:nvPicPr>
              <p:cNvPr id="120" name="图片 23" descr="upload_post_object_v2_4048425327">
                <a:extLst>
                  <a:ext uri="{FF2B5EF4-FFF2-40B4-BE49-F238E27FC236}">
                    <a16:creationId xmlns:a16="http://schemas.microsoft.com/office/drawing/2014/main" id="{96784CC2-9D21-2F65-108C-7E16C9E63AF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35"/>
              <a:stretch>
                <a:fillRect/>
              </a:stretch>
            </p:blipFill>
            <p:spPr>
              <a:xfrm>
                <a:off x="12319" y="3811"/>
                <a:ext cx="943" cy="793"/>
              </a:xfrm>
              <a:prstGeom prst="rect">
                <a:avLst/>
              </a:prstGeom>
              <a:noFill/>
            </p:spPr>
          </p:pic>
          <p:pic>
            <p:nvPicPr>
              <p:cNvPr id="121" name="图片 24" descr="upload_post_object_v2_2302213724">
                <a:extLst>
                  <a:ext uri="{FF2B5EF4-FFF2-40B4-BE49-F238E27FC236}">
                    <a16:creationId xmlns:a16="http://schemas.microsoft.com/office/drawing/2014/main" id="{89459239-FCB8-3FAA-E373-04C974BD576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36"/>
              <a:stretch>
                <a:fillRect/>
              </a:stretch>
            </p:blipFill>
            <p:spPr>
              <a:xfrm>
                <a:off x="13522" y="3801"/>
                <a:ext cx="960" cy="840"/>
              </a:xfrm>
              <a:prstGeom prst="rect">
                <a:avLst/>
              </a:prstGeom>
              <a:noFill/>
            </p:spPr>
          </p:pic>
        </p:grpSp>
        <p:grpSp>
          <p:nvGrpSpPr>
            <p:cNvPr id="122" name="组合 38">
              <a:extLst>
                <a:ext uri="{FF2B5EF4-FFF2-40B4-BE49-F238E27FC236}">
                  <a16:creationId xmlns:a16="http://schemas.microsoft.com/office/drawing/2014/main" id="{9796F4EA-234C-8026-16D7-1281B5DF0349}"/>
                </a:ext>
              </a:extLst>
            </p:cNvPr>
            <p:cNvGrpSpPr/>
            <p:nvPr/>
          </p:nvGrpSpPr>
          <p:grpSpPr>
            <a:xfrm>
              <a:off x="6395827" y="10292381"/>
              <a:ext cx="2025015" cy="565150"/>
              <a:chOff x="11187" y="7291"/>
              <a:chExt cx="3189" cy="890"/>
            </a:xfrm>
          </p:grpSpPr>
          <p:pic>
            <p:nvPicPr>
              <p:cNvPr id="123" name="图片 31" descr="upload_post_object_v2_3198276493">
                <a:extLst>
                  <a:ext uri="{FF2B5EF4-FFF2-40B4-BE49-F238E27FC236}">
                    <a16:creationId xmlns:a16="http://schemas.microsoft.com/office/drawing/2014/main" id="{19FACE67-3BB7-3DCB-2727-727CF852157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37"/>
              <a:stretch>
                <a:fillRect/>
              </a:stretch>
            </p:blipFill>
            <p:spPr>
              <a:xfrm>
                <a:off x="12226" y="7387"/>
                <a:ext cx="952" cy="737"/>
              </a:xfrm>
              <a:prstGeom prst="rect">
                <a:avLst/>
              </a:prstGeom>
              <a:noFill/>
            </p:spPr>
          </p:pic>
          <p:pic>
            <p:nvPicPr>
              <p:cNvPr id="124" name="图片 32" descr="upload_post_object_v2_2429138664">
                <a:extLst>
                  <a:ext uri="{FF2B5EF4-FFF2-40B4-BE49-F238E27FC236}">
                    <a16:creationId xmlns:a16="http://schemas.microsoft.com/office/drawing/2014/main" id="{030A838D-BE00-4065-800A-48A2BE4A3D3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13466" y="7387"/>
                <a:ext cx="910" cy="794"/>
              </a:xfrm>
              <a:prstGeom prst="rect">
                <a:avLst/>
              </a:prstGeom>
              <a:noFill/>
            </p:spPr>
          </p:pic>
          <p:pic>
            <p:nvPicPr>
              <p:cNvPr id="125" name="图片 33" descr="upload_post_object_v2_1463306934">
                <a:extLst>
                  <a:ext uri="{FF2B5EF4-FFF2-40B4-BE49-F238E27FC236}">
                    <a16:creationId xmlns:a16="http://schemas.microsoft.com/office/drawing/2014/main" id="{801063CB-5C46-77DE-CF69-32307976A98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39"/>
              <a:stretch>
                <a:fillRect/>
              </a:stretch>
            </p:blipFill>
            <p:spPr>
              <a:xfrm>
                <a:off x="11187" y="7291"/>
                <a:ext cx="620" cy="850"/>
              </a:xfrm>
              <a:prstGeom prst="rect">
                <a:avLst/>
              </a:prstGeom>
              <a:noFill/>
            </p:spPr>
          </p:pic>
        </p:grpSp>
        <p:grpSp>
          <p:nvGrpSpPr>
            <p:cNvPr id="126" name="组合 40">
              <a:extLst>
                <a:ext uri="{FF2B5EF4-FFF2-40B4-BE49-F238E27FC236}">
                  <a16:creationId xmlns:a16="http://schemas.microsoft.com/office/drawing/2014/main" id="{16C7EE41-0093-FF9C-AB0B-AF668E947AB6}"/>
                </a:ext>
              </a:extLst>
            </p:cNvPr>
            <p:cNvGrpSpPr/>
            <p:nvPr/>
          </p:nvGrpSpPr>
          <p:grpSpPr>
            <a:xfrm>
              <a:off x="3736616" y="10305677"/>
              <a:ext cx="2132965" cy="539750"/>
              <a:chOff x="11157" y="4751"/>
              <a:chExt cx="3359" cy="850"/>
            </a:xfrm>
          </p:grpSpPr>
          <p:pic>
            <p:nvPicPr>
              <p:cNvPr id="127" name="图片 25" descr="upload_post_object_v2_3035643292">
                <a:extLst>
                  <a:ext uri="{FF2B5EF4-FFF2-40B4-BE49-F238E27FC236}">
                    <a16:creationId xmlns:a16="http://schemas.microsoft.com/office/drawing/2014/main" id="{7F725A57-D845-988F-96ED-E867EE2083F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40"/>
              <a:stretch>
                <a:fillRect/>
              </a:stretch>
            </p:blipFill>
            <p:spPr>
              <a:xfrm>
                <a:off x="11157" y="4751"/>
                <a:ext cx="1025" cy="850"/>
              </a:xfrm>
              <a:prstGeom prst="rect">
                <a:avLst/>
              </a:prstGeom>
              <a:noFill/>
            </p:spPr>
          </p:pic>
          <p:pic>
            <p:nvPicPr>
              <p:cNvPr id="128" name="图片 26" descr="upload_post_object_v2_2459295757">
                <a:extLst>
                  <a:ext uri="{FF2B5EF4-FFF2-40B4-BE49-F238E27FC236}">
                    <a16:creationId xmlns:a16="http://schemas.microsoft.com/office/drawing/2014/main" id="{B12F16DE-AA65-21F4-E00F-FD50BA35426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41"/>
              <a:stretch>
                <a:fillRect/>
              </a:stretch>
            </p:blipFill>
            <p:spPr>
              <a:xfrm>
                <a:off x="12440" y="4751"/>
                <a:ext cx="735" cy="850"/>
              </a:xfrm>
              <a:prstGeom prst="rect">
                <a:avLst/>
              </a:prstGeom>
              <a:noFill/>
            </p:spPr>
          </p:pic>
          <p:pic>
            <p:nvPicPr>
              <p:cNvPr id="129" name="图片 27" descr="upload_post_object_v2_897154836">
                <a:extLst>
                  <a:ext uri="{FF2B5EF4-FFF2-40B4-BE49-F238E27FC236}">
                    <a16:creationId xmlns:a16="http://schemas.microsoft.com/office/drawing/2014/main" id="{3BE7A539-432E-4D97-9BD3-8F6C338A972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3606" y="4799"/>
                <a:ext cx="910" cy="737"/>
              </a:xfrm>
              <a:prstGeom prst="rect">
                <a:avLst/>
              </a:prstGeom>
              <a:noFill/>
            </p:spPr>
          </p:pic>
        </p:grpSp>
        <p:grpSp>
          <p:nvGrpSpPr>
            <p:cNvPr id="130" name="组合 39">
              <a:extLst>
                <a:ext uri="{FF2B5EF4-FFF2-40B4-BE49-F238E27FC236}">
                  <a16:creationId xmlns:a16="http://schemas.microsoft.com/office/drawing/2014/main" id="{B5201BF9-BF66-3C9B-3FD1-940B3334FF35}"/>
                </a:ext>
              </a:extLst>
            </p:cNvPr>
            <p:cNvGrpSpPr/>
            <p:nvPr/>
          </p:nvGrpSpPr>
          <p:grpSpPr>
            <a:xfrm>
              <a:off x="8889135" y="10337236"/>
              <a:ext cx="1950720" cy="510540"/>
              <a:chOff x="11281" y="6070"/>
              <a:chExt cx="3072" cy="804"/>
            </a:xfrm>
          </p:grpSpPr>
          <p:pic>
            <p:nvPicPr>
              <p:cNvPr id="131" name="图片 28" descr="upload_post_object_v2_1634595837">
                <a:extLst>
                  <a:ext uri="{FF2B5EF4-FFF2-40B4-BE49-F238E27FC236}">
                    <a16:creationId xmlns:a16="http://schemas.microsoft.com/office/drawing/2014/main" id="{2EE34908-1D14-C26E-4511-EB3986CCE5B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43"/>
              <a:stretch>
                <a:fillRect/>
              </a:stretch>
            </p:blipFill>
            <p:spPr>
              <a:xfrm>
                <a:off x="13559" y="6070"/>
                <a:ext cx="794" cy="794"/>
              </a:xfrm>
              <a:prstGeom prst="rect">
                <a:avLst/>
              </a:prstGeom>
              <a:noFill/>
            </p:spPr>
          </p:pic>
          <p:pic>
            <p:nvPicPr>
              <p:cNvPr id="132" name="图片 29" descr="upload_post_object_v2_2512580259">
                <a:extLst>
                  <a:ext uri="{FF2B5EF4-FFF2-40B4-BE49-F238E27FC236}">
                    <a16:creationId xmlns:a16="http://schemas.microsoft.com/office/drawing/2014/main" id="{6D0B18B9-61C6-16F9-7DDE-C766E373418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44"/>
              <a:srcRect t="-3481" b="3481"/>
              <a:stretch>
                <a:fillRect/>
              </a:stretch>
            </p:blipFill>
            <p:spPr>
              <a:xfrm>
                <a:off x="12426" y="6080"/>
                <a:ext cx="904" cy="794"/>
              </a:xfrm>
              <a:prstGeom prst="rect">
                <a:avLst/>
              </a:prstGeom>
              <a:noFill/>
            </p:spPr>
          </p:pic>
          <p:pic>
            <p:nvPicPr>
              <p:cNvPr id="133" name="图片 30" descr="upload_post_object_v2_1850093019">
                <a:extLst>
                  <a:ext uri="{FF2B5EF4-FFF2-40B4-BE49-F238E27FC236}">
                    <a16:creationId xmlns:a16="http://schemas.microsoft.com/office/drawing/2014/main" id="{7BED7B44-F624-FA37-26D7-E361B03505B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5"/>
              <a:stretch>
                <a:fillRect/>
              </a:stretch>
            </p:blipFill>
            <p:spPr>
              <a:xfrm>
                <a:off x="11281" y="6123"/>
                <a:ext cx="904" cy="737"/>
              </a:xfrm>
              <a:prstGeom prst="rect">
                <a:avLst/>
              </a:prstGeom>
              <a:noFill/>
            </p:spPr>
          </p:pic>
        </p:grp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84DB79C6-0A71-9D9C-4283-62243D5E7C57}"/>
                </a:ext>
              </a:extLst>
            </p:cNvPr>
            <p:cNvSpPr txBox="1"/>
            <p:nvPr/>
          </p:nvSpPr>
          <p:spPr>
            <a:xfrm>
              <a:off x="-517317" y="8685219"/>
              <a:ext cx="249481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200" b="1" dirty="0">
                  <a:solidFill>
                    <a:schemeClr val="accent6">
                      <a:lumMod val="75000"/>
                    </a:schemeClr>
                  </a:solidFill>
                </a:rPr>
                <a:t>3D </a:t>
              </a:r>
            </a:p>
            <a:p>
              <a:pPr algn="ctr"/>
              <a:r>
                <a:rPr kumimoji="1" lang="en-US" altLang="zh-CN" sz="3200" b="1" dirty="0">
                  <a:solidFill>
                    <a:schemeClr val="accent6">
                      <a:lumMod val="75000"/>
                    </a:schemeClr>
                  </a:solidFill>
                </a:rPr>
                <a:t>task</a:t>
              </a:r>
              <a:endParaRPr kumimoji="1" lang="zh-CN" altLang="en-US" sz="32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B30A3E2F-27B7-3DE0-FC9C-1FA937156630}"/>
                </a:ext>
              </a:extLst>
            </p:cNvPr>
            <p:cNvSpPr txBox="1"/>
            <p:nvPr/>
          </p:nvSpPr>
          <p:spPr>
            <a:xfrm>
              <a:off x="220121" y="10066279"/>
              <a:ext cx="96353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4D </a:t>
              </a:r>
            </a:p>
            <a:p>
              <a:pPr algn="ctr"/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task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E8533C83-5DA2-0D38-CF97-41A6BB3A5F99}"/>
                </a:ext>
              </a:extLst>
            </p:cNvPr>
            <p:cNvSpPr/>
            <p:nvPr/>
          </p:nvSpPr>
          <p:spPr>
            <a:xfrm>
              <a:off x="11372163" y="8608874"/>
              <a:ext cx="268815" cy="1544839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46000">
                  <a:srgbClr val="FDF08C"/>
                </a:gs>
                <a:gs pos="78000">
                  <a:srgbClr val="FDEA50"/>
                </a:gs>
                <a:gs pos="100000">
                  <a:srgbClr val="FFDB00"/>
                </a:gs>
              </a:gsLst>
              <a:lin ang="5400000" scaled="1"/>
              <a:tileRect/>
            </a:gra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AE17BA1B-CD97-969C-820C-CED73CED7DF4}"/>
                </a:ext>
              </a:extLst>
            </p:cNvPr>
            <p:cNvSpPr txBox="1"/>
            <p:nvPr/>
          </p:nvSpPr>
          <p:spPr>
            <a:xfrm rot="16200000">
              <a:off x="10698216" y="9167833"/>
              <a:ext cx="2431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/>
                <a:t>Original Value</a:t>
              </a:r>
              <a:endParaRPr kumimoji="1" lang="zh-CN" altLang="en-US" sz="24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E21F1610-D4CE-FA65-F124-3A12955B8141}"/>
                </a:ext>
              </a:extLst>
            </p:cNvPr>
            <p:cNvSpPr txBox="1"/>
            <p:nvPr/>
          </p:nvSpPr>
          <p:spPr>
            <a:xfrm>
              <a:off x="11228288" y="10196403"/>
              <a:ext cx="5552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/>
                <a:t>0</a:t>
              </a:r>
              <a:endParaRPr kumimoji="1" lang="zh-CN" altLang="en-US" sz="24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1BCC2B75-94B1-C24E-DC7E-FE28D139527F}"/>
                </a:ext>
              </a:extLst>
            </p:cNvPr>
            <p:cNvSpPr txBox="1"/>
            <p:nvPr/>
          </p:nvSpPr>
          <p:spPr>
            <a:xfrm>
              <a:off x="11193379" y="8131464"/>
              <a:ext cx="6152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/>
                <a:t>10</a:t>
              </a:r>
              <a:endParaRPr kumimoji="1" lang="zh-CN" altLang="en-US" sz="2400" dirty="0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79D68339-F557-4AF2-8E08-6C5B271CA02D}"/>
                </a:ext>
              </a:extLst>
            </p:cNvPr>
            <p:cNvSpPr/>
            <p:nvPr/>
          </p:nvSpPr>
          <p:spPr>
            <a:xfrm>
              <a:off x="1397452" y="9513084"/>
              <a:ext cx="494877" cy="193358"/>
            </a:xfrm>
            <a:prstGeom prst="rect">
              <a:avLst/>
            </a:prstGeom>
            <a:solidFill>
              <a:srgbClr val="FFD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72798DA7-E7E8-974A-0D49-B18B43329F97}"/>
                </a:ext>
              </a:extLst>
            </p:cNvPr>
            <p:cNvSpPr/>
            <p:nvPr/>
          </p:nvSpPr>
          <p:spPr>
            <a:xfrm>
              <a:off x="2098492" y="9523244"/>
              <a:ext cx="494877" cy="193358"/>
            </a:xfrm>
            <a:prstGeom prst="rect">
              <a:avLst/>
            </a:prstGeom>
            <a:solidFill>
              <a:srgbClr val="FEEF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FE679AA8-C658-B767-6C71-7DD4CC1DC3DF}"/>
                </a:ext>
              </a:extLst>
            </p:cNvPr>
            <p:cNvSpPr/>
            <p:nvPr/>
          </p:nvSpPr>
          <p:spPr>
            <a:xfrm>
              <a:off x="2840172" y="9513084"/>
              <a:ext cx="494877" cy="193358"/>
            </a:xfrm>
            <a:prstGeom prst="rect">
              <a:avLst/>
            </a:prstGeom>
            <a:solidFill>
              <a:srgbClr val="F8F4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495A7DB0-1B11-E254-E141-BCAC0C58A961}"/>
                </a:ext>
              </a:extLst>
            </p:cNvPr>
            <p:cNvSpPr/>
            <p:nvPr/>
          </p:nvSpPr>
          <p:spPr>
            <a:xfrm>
              <a:off x="3830271" y="9510815"/>
              <a:ext cx="494877" cy="193358"/>
            </a:xfrm>
            <a:prstGeom prst="rect">
              <a:avLst/>
            </a:prstGeom>
            <a:solidFill>
              <a:srgbClr val="FFD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851BC917-703D-180A-222F-13CD6ED02915}"/>
                </a:ext>
              </a:extLst>
            </p:cNvPr>
            <p:cNvSpPr/>
            <p:nvPr/>
          </p:nvSpPr>
          <p:spPr>
            <a:xfrm>
              <a:off x="4531311" y="9520975"/>
              <a:ext cx="494877" cy="193358"/>
            </a:xfrm>
            <a:prstGeom prst="rect">
              <a:avLst/>
            </a:prstGeom>
            <a:solidFill>
              <a:srgbClr val="FEEF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6AC4F6E7-C42C-2991-961F-A226188EB272}"/>
                </a:ext>
              </a:extLst>
            </p:cNvPr>
            <p:cNvSpPr/>
            <p:nvPr/>
          </p:nvSpPr>
          <p:spPr>
            <a:xfrm>
              <a:off x="5272991" y="9510815"/>
              <a:ext cx="494877" cy="193358"/>
            </a:xfrm>
            <a:prstGeom prst="rect">
              <a:avLst/>
            </a:prstGeom>
            <a:solidFill>
              <a:srgbClr val="F8F4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39995579-31CF-E8B6-9924-2CC20D577D15}"/>
                </a:ext>
              </a:extLst>
            </p:cNvPr>
            <p:cNvSpPr/>
            <p:nvPr/>
          </p:nvSpPr>
          <p:spPr>
            <a:xfrm>
              <a:off x="6434271" y="9520791"/>
              <a:ext cx="494877" cy="1933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A2CBC1A4-72AC-F559-ACC2-667497E649C3}"/>
                </a:ext>
              </a:extLst>
            </p:cNvPr>
            <p:cNvSpPr/>
            <p:nvPr/>
          </p:nvSpPr>
          <p:spPr>
            <a:xfrm>
              <a:off x="7135311" y="9530951"/>
              <a:ext cx="494877" cy="1933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D3400459-6332-566B-4445-585CF3DCC313}"/>
                </a:ext>
              </a:extLst>
            </p:cNvPr>
            <p:cNvSpPr/>
            <p:nvPr/>
          </p:nvSpPr>
          <p:spPr>
            <a:xfrm>
              <a:off x="7876991" y="9520791"/>
              <a:ext cx="494877" cy="1933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4BFE2F56-19BE-2D14-AB0B-BDD026B5C560}"/>
                </a:ext>
              </a:extLst>
            </p:cNvPr>
            <p:cNvSpPr/>
            <p:nvPr/>
          </p:nvSpPr>
          <p:spPr>
            <a:xfrm>
              <a:off x="1366540" y="10794128"/>
              <a:ext cx="494877" cy="193358"/>
            </a:xfrm>
            <a:prstGeom prst="rect">
              <a:avLst/>
            </a:prstGeom>
            <a:solidFill>
              <a:srgbClr val="FFD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75AE3E33-981D-6031-CA3B-8FC2F23338FE}"/>
                </a:ext>
              </a:extLst>
            </p:cNvPr>
            <p:cNvSpPr/>
            <p:nvPr/>
          </p:nvSpPr>
          <p:spPr>
            <a:xfrm>
              <a:off x="2067580" y="10804288"/>
              <a:ext cx="494877" cy="193358"/>
            </a:xfrm>
            <a:prstGeom prst="rect">
              <a:avLst/>
            </a:prstGeom>
            <a:solidFill>
              <a:srgbClr val="FEEF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7073D170-E4FB-7AA4-3847-0C952F466A4C}"/>
                </a:ext>
              </a:extLst>
            </p:cNvPr>
            <p:cNvSpPr/>
            <p:nvPr/>
          </p:nvSpPr>
          <p:spPr>
            <a:xfrm>
              <a:off x="2809260" y="10814006"/>
              <a:ext cx="494877" cy="193358"/>
            </a:xfrm>
            <a:prstGeom prst="rect">
              <a:avLst/>
            </a:prstGeom>
            <a:solidFill>
              <a:srgbClr val="F8F4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F00549BB-F519-27E3-D8D1-21E238031CB2}"/>
                </a:ext>
              </a:extLst>
            </p:cNvPr>
            <p:cNvSpPr/>
            <p:nvPr/>
          </p:nvSpPr>
          <p:spPr>
            <a:xfrm>
              <a:off x="3799359" y="10831615"/>
              <a:ext cx="494877" cy="193358"/>
            </a:xfrm>
            <a:prstGeom prst="rect">
              <a:avLst/>
            </a:prstGeom>
            <a:solidFill>
              <a:srgbClr val="FFD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306FAFCB-46EF-27B6-1029-BF3009BD8386}"/>
                </a:ext>
              </a:extLst>
            </p:cNvPr>
            <p:cNvSpPr/>
            <p:nvPr/>
          </p:nvSpPr>
          <p:spPr>
            <a:xfrm>
              <a:off x="4540155" y="10841775"/>
              <a:ext cx="494877" cy="193358"/>
            </a:xfrm>
            <a:prstGeom prst="rect">
              <a:avLst/>
            </a:prstGeom>
            <a:solidFill>
              <a:srgbClr val="FEEF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4271FF2C-A72C-0659-5B3E-BFC27E3400A0}"/>
                </a:ext>
              </a:extLst>
            </p:cNvPr>
            <p:cNvSpPr/>
            <p:nvPr/>
          </p:nvSpPr>
          <p:spPr>
            <a:xfrm>
              <a:off x="5321591" y="10831615"/>
              <a:ext cx="494877" cy="193358"/>
            </a:xfrm>
            <a:prstGeom prst="rect">
              <a:avLst/>
            </a:prstGeom>
            <a:solidFill>
              <a:srgbClr val="F8F4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8A97ECFC-4513-145B-D7D3-ACC4900C6D19}"/>
                </a:ext>
              </a:extLst>
            </p:cNvPr>
            <p:cNvSpPr/>
            <p:nvPr/>
          </p:nvSpPr>
          <p:spPr>
            <a:xfrm>
              <a:off x="6403359" y="10841589"/>
              <a:ext cx="494877" cy="1933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D0BEB576-C925-4EFF-A0A4-7CCAE9BE986B}"/>
                </a:ext>
              </a:extLst>
            </p:cNvPr>
            <p:cNvSpPr/>
            <p:nvPr/>
          </p:nvSpPr>
          <p:spPr>
            <a:xfrm>
              <a:off x="7144155" y="10851749"/>
              <a:ext cx="494877" cy="1933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CF12D0D4-4361-B1F8-518D-0B0BFEB5BE60}"/>
                </a:ext>
              </a:extLst>
            </p:cNvPr>
            <p:cNvSpPr/>
            <p:nvPr/>
          </p:nvSpPr>
          <p:spPr>
            <a:xfrm>
              <a:off x="7905713" y="10841589"/>
              <a:ext cx="494877" cy="1933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E9E63D44-35EC-278F-7C21-42376F293095}"/>
                </a:ext>
              </a:extLst>
            </p:cNvPr>
            <p:cNvSpPr/>
            <p:nvPr/>
          </p:nvSpPr>
          <p:spPr>
            <a:xfrm>
              <a:off x="8930105" y="10880243"/>
              <a:ext cx="494877" cy="1933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4BBFB7E9-7DF5-45BF-5039-907BE5448468}"/>
                </a:ext>
              </a:extLst>
            </p:cNvPr>
            <p:cNvSpPr/>
            <p:nvPr/>
          </p:nvSpPr>
          <p:spPr>
            <a:xfrm>
              <a:off x="9651023" y="10870525"/>
              <a:ext cx="494877" cy="1933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B40AAA53-A977-F059-DECB-0A9EA053FE5D}"/>
                </a:ext>
              </a:extLst>
            </p:cNvPr>
            <p:cNvSpPr/>
            <p:nvPr/>
          </p:nvSpPr>
          <p:spPr>
            <a:xfrm>
              <a:off x="10352947" y="10880243"/>
              <a:ext cx="494877" cy="1933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6" name="圆角矩形 135">
              <a:extLst>
                <a:ext uri="{FF2B5EF4-FFF2-40B4-BE49-F238E27FC236}">
                  <a16:creationId xmlns:a16="http://schemas.microsoft.com/office/drawing/2014/main" id="{16F595FE-C859-7B2E-A336-CB80B788D105}"/>
                </a:ext>
              </a:extLst>
            </p:cNvPr>
            <p:cNvSpPr/>
            <p:nvPr/>
          </p:nvSpPr>
          <p:spPr>
            <a:xfrm>
              <a:off x="1313234" y="8802642"/>
              <a:ext cx="7214480" cy="1036230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7" name="圆角矩形 136">
              <a:extLst>
                <a:ext uri="{FF2B5EF4-FFF2-40B4-BE49-F238E27FC236}">
                  <a16:creationId xmlns:a16="http://schemas.microsoft.com/office/drawing/2014/main" id="{6CA26FDB-9562-8959-9E61-6C8118ABF90C}"/>
                </a:ext>
              </a:extLst>
            </p:cNvPr>
            <p:cNvSpPr/>
            <p:nvPr/>
          </p:nvSpPr>
          <p:spPr>
            <a:xfrm>
              <a:off x="1308824" y="10157842"/>
              <a:ext cx="9690390" cy="1067211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C5D6732C-07A8-9825-E69A-DFBF1DBE0930}"/>
                </a:ext>
              </a:extLst>
            </p:cNvPr>
            <p:cNvSpPr txBox="1"/>
            <p:nvPr/>
          </p:nvSpPr>
          <p:spPr>
            <a:xfrm>
              <a:off x="-45989" y="11248275"/>
              <a:ext cx="1207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Two dimension are score relevant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·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random selected in each task phase</a:t>
              </a:r>
              <a:endParaRPr kumimoji="1" lang="zh-CN" altLang="en-US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77DC026D-2D8A-E9E5-6A91-B7DE95B50524}"/>
                </a:ext>
              </a:extLst>
            </p:cNvPr>
            <p:cNvGrpSpPr/>
            <p:nvPr/>
          </p:nvGrpSpPr>
          <p:grpSpPr>
            <a:xfrm>
              <a:off x="9249047" y="4096607"/>
              <a:ext cx="2496405" cy="1008185"/>
              <a:chOff x="9165381" y="4526337"/>
              <a:chExt cx="2496405" cy="1008185"/>
            </a:xfrm>
          </p:grpSpPr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9C338C59-C339-D755-CBD8-665C525EBA7F}"/>
                  </a:ext>
                </a:extLst>
              </p:cNvPr>
              <p:cNvSpPr/>
              <p:nvPr/>
            </p:nvSpPr>
            <p:spPr>
              <a:xfrm rot="5400000">
                <a:off x="10166468" y="3864000"/>
                <a:ext cx="229854" cy="1851126"/>
              </a:xfrm>
              <a:prstGeom prst="rect">
                <a:avLst/>
              </a:prstGeom>
              <a:solidFill>
                <a:schemeClr val="bg1"/>
              </a:solidFill>
              <a:ln w="4762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8A28E437-3561-EA0D-9C6D-F2CB3451AC52}"/>
                  </a:ext>
                </a:extLst>
              </p:cNvPr>
              <p:cNvSpPr txBox="1"/>
              <p:nvPr/>
            </p:nvSpPr>
            <p:spPr>
              <a:xfrm>
                <a:off x="9165381" y="4949747"/>
                <a:ext cx="5552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3200" dirty="0"/>
                  <a:t>0</a:t>
                </a:r>
                <a:endParaRPr kumimoji="1" lang="zh-CN" altLang="en-US" sz="3200" dirty="0"/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C2E1FDB2-F69C-80C3-BB87-72C24AB6EA5B}"/>
                  </a:ext>
                </a:extLst>
              </p:cNvPr>
              <p:cNvSpPr txBox="1"/>
              <p:nvPr/>
            </p:nvSpPr>
            <p:spPr>
              <a:xfrm>
                <a:off x="10670248" y="4932413"/>
                <a:ext cx="9915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3200" dirty="0"/>
                  <a:t>100</a:t>
                </a:r>
                <a:endParaRPr kumimoji="1" lang="zh-CN" altLang="en-US" sz="3200" dirty="0"/>
              </a:p>
            </p:txBody>
          </p:sp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2C954B37-33E5-1E22-9820-9BAAE45C1E4A}"/>
                  </a:ext>
                </a:extLst>
              </p:cNvPr>
              <p:cNvSpPr/>
              <p:nvPr/>
            </p:nvSpPr>
            <p:spPr>
              <a:xfrm>
                <a:off x="10643796" y="4526337"/>
                <a:ext cx="108000" cy="576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539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181" name="直线连接符 180">
              <a:extLst>
                <a:ext uri="{FF2B5EF4-FFF2-40B4-BE49-F238E27FC236}">
                  <a16:creationId xmlns:a16="http://schemas.microsoft.com/office/drawing/2014/main" id="{21343753-3D9D-1BFB-95C5-665A0D681972}"/>
                </a:ext>
              </a:extLst>
            </p:cNvPr>
            <p:cNvCxnSpPr>
              <a:cxnSpLocks/>
            </p:cNvCxnSpPr>
            <p:nvPr/>
          </p:nvCxnSpPr>
          <p:spPr>
            <a:xfrm>
              <a:off x="3253366" y="4338497"/>
              <a:ext cx="461512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线连接符 183">
              <a:extLst>
                <a:ext uri="{FF2B5EF4-FFF2-40B4-BE49-F238E27FC236}">
                  <a16:creationId xmlns:a16="http://schemas.microsoft.com/office/drawing/2014/main" id="{5E2D95AB-24EB-B0B9-89E2-527466ED6D82}"/>
                </a:ext>
              </a:extLst>
            </p:cNvPr>
            <p:cNvCxnSpPr>
              <a:cxnSpLocks/>
            </p:cNvCxnSpPr>
            <p:nvPr/>
          </p:nvCxnSpPr>
          <p:spPr>
            <a:xfrm>
              <a:off x="8427623" y="4351737"/>
              <a:ext cx="461512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文本框 185">
              <a:extLst>
                <a:ext uri="{FF2B5EF4-FFF2-40B4-BE49-F238E27FC236}">
                  <a16:creationId xmlns:a16="http://schemas.microsoft.com/office/drawing/2014/main" id="{89F826F5-7E33-CE63-3630-C52440729F5F}"/>
                </a:ext>
              </a:extLst>
            </p:cNvPr>
            <p:cNvSpPr txBox="1"/>
            <p:nvPr/>
          </p:nvSpPr>
          <p:spPr>
            <a:xfrm>
              <a:off x="8988992" y="5134211"/>
              <a:ext cx="28558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</a:rPr>
                <a:t>Weighted sum of 9 item in 3 rows</a:t>
              </a:r>
              <a:endParaRPr kumimoji="1" lang="zh-CN" altLang="en-US" sz="2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6BF47383-FD15-FE8A-D3E4-22A4C98958D0}"/>
              </a:ext>
            </a:extLst>
          </p:cNvPr>
          <p:cNvGrpSpPr/>
          <p:nvPr/>
        </p:nvGrpSpPr>
        <p:grpSpPr>
          <a:xfrm>
            <a:off x="-137402" y="12271619"/>
            <a:ext cx="12193588" cy="3869859"/>
            <a:chOff x="-137402" y="12271619"/>
            <a:chExt cx="12193588" cy="3869859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B74A992-B4B4-7498-1C1A-D2CF15C34BAF}"/>
                </a:ext>
              </a:extLst>
            </p:cNvPr>
            <p:cNvSpPr txBox="1"/>
            <p:nvPr/>
          </p:nvSpPr>
          <p:spPr>
            <a:xfrm>
              <a:off x="295213" y="12271619"/>
              <a:ext cx="501913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5">
                      <a:lumMod val="75000"/>
                    </a:schemeClr>
                  </a:solidFill>
                </a:rPr>
                <a:t>Group design and procedure</a:t>
              </a:r>
              <a:endParaRPr kumimoji="1" lang="zh-CN" altLang="en-US" sz="3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0496B27-5E2C-ED5E-7718-1DDB68BCC68A}"/>
                </a:ext>
              </a:extLst>
            </p:cNvPr>
            <p:cNvSpPr txBox="1"/>
            <p:nvPr/>
          </p:nvSpPr>
          <p:spPr>
            <a:xfrm>
              <a:off x="-137402" y="12808859"/>
              <a:ext cx="121935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Transfer from lower- to higher- dimensional task</a:t>
              </a:r>
              <a:endParaRPr kumimoji="1" lang="zh-CN" altLang="en-US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25E3E6B9-1FFE-2F7C-A4FB-F7C91F65A66D}"/>
                </a:ext>
              </a:extLst>
            </p:cNvPr>
            <p:cNvSpPr/>
            <p:nvPr/>
          </p:nvSpPr>
          <p:spPr>
            <a:xfrm>
              <a:off x="3320556" y="14081369"/>
              <a:ext cx="2098241" cy="720303"/>
            </a:xfrm>
            <a:prstGeom prst="roundRect">
              <a:avLst>
                <a:gd name="adj" fmla="val 18827"/>
              </a:avLst>
            </a:prstGeom>
            <a:solidFill>
              <a:srgbClr val="E7F4EF"/>
            </a:solidFill>
            <a:ln w="41275">
              <a:solidFill>
                <a:srgbClr val="4E93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32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3D-NE</a:t>
              </a:r>
              <a:endParaRPr kumimoji="1" lang="zh-CN" altLang="en-US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FA3C8C1A-93F4-95B8-57FD-8DCCC3DDC8E7}"/>
                </a:ext>
              </a:extLst>
            </p:cNvPr>
            <p:cNvSpPr/>
            <p:nvPr/>
          </p:nvSpPr>
          <p:spPr>
            <a:xfrm>
              <a:off x="5933597" y="14081369"/>
              <a:ext cx="2098241" cy="720303"/>
            </a:xfrm>
            <a:prstGeom prst="roundRect">
              <a:avLst>
                <a:gd name="adj" fmla="val 18827"/>
              </a:avLst>
            </a:prstGeom>
            <a:solidFill>
              <a:srgbClr val="E8F1FA"/>
            </a:solidFill>
            <a:ln w="41275">
              <a:solidFill>
                <a:srgbClr val="1770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32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4D-E</a:t>
              </a:r>
              <a:endParaRPr kumimoji="1" lang="zh-CN" altLang="en-US" sz="3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B82A3FFC-FBBD-EF63-5469-2304FEAC5CAD}"/>
                </a:ext>
              </a:extLst>
            </p:cNvPr>
            <p:cNvSpPr/>
            <p:nvPr/>
          </p:nvSpPr>
          <p:spPr>
            <a:xfrm>
              <a:off x="5945311" y="15404005"/>
              <a:ext cx="2098241" cy="737473"/>
            </a:xfrm>
            <a:prstGeom prst="roundRect">
              <a:avLst>
                <a:gd name="adj" fmla="val 18827"/>
              </a:avLst>
            </a:prstGeom>
            <a:solidFill>
              <a:srgbClr val="E3EFFB"/>
            </a:solidFill>
            <a:ln w="41275">
              <a:solidFill>
                <a:srgbClr val="2A99C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32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4D-NE</a:t>
              </a:r>
              <a:endParaRPr kumimoji="1" lang="zh-CN" altLang="en-US" sz="3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右大括号 13">
              <a:extLst>
                <a:ext uri="{FF2B5EF4-FFF2-40B4-BE49-F238E27FC236}">
                  <a16:creationId xmlns:a16="http://schemas.microsoft.com/office/drawing/2014/main" id="{B0259918-5C0C-C7E3-4199-6F3301A87F9D}"/>
                </a:ext>
              </a:extLst>
            </p:cNvPr>
            <p:cNvSpPr/>
            <p:nvPr/>
          </p:nvSpPr>
          <p:spPr>
            <a:xfrm>
              <a:off x="8201011" y="14231142"/>
              <a:ext cx="561369" cy="1745434"/>
            </a:xfrm>
            <a:prstGeom prst="rightBrace">
              <a:avLst/>
            </a:prstGeom>
            <a:ln w="508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右箭头 14">
              <a:extLst>
                <a:ext uri="{FF2B5EF4-FFF2-40B4-BE49-F238E27FC236}">
                  <a16:creationId xmlns:a16="http://schemas.microsoft.com/office/drawing/2014/main" id="{5E536CD4-9A4C-DEF7-1D48-40339EFA200E}"/>
                </a:ext>
              </a:extLst>
            </p:cNvPr>
            <p:cNvSpPr/>
            <p:nvPr/>
          </p:nvSpPr>
          <p:spPr>
            <a:xfrm>
              <a:off x="5527857" y="14279680"/>
              <a:ext cx="303924" cy="368737"/>
            </a:xfrm>
            <a:prstGeom prst="rightArrow">
              <a:avLst/>
            </a:prstGeom>
            <a:solidFill>
              <a:srgbClr val="459B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右箭头 16">
              <a:extLst>
                <a:ext uri="{FF2B5EF4-FFF2-40B4-BE49-F238E27FC236}">
                  <a16:creationId xmlns:a16="http://schemas.microsoft.com/office/drawing/2014/main" id="{4BF9B3BE-9D57-9C5A-BDA6-E76E460660C1}"/>
                </a:ext>
              </a:extLst>
            </p:cNvPr>
            <p:cNvSpPr/>
            <p:nvPr/>
          </p:nvSpPr>
          <p:spPr>
            <a:xfrm>
              <a:off x="8463840" y="14919490"/>
              <a:ext cx="465896" cy="429827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7D950292-04FF-9D33-F656-AAF16737C396}"/>
                </a:ext>
              </a:extLst>
            </p:cNvPr>
            <p:cNvSpPr/>
            <p:nvPr/>
          </p:nvSpPr>
          <p:spPr>
            <a:xfrm>
              <a:off x="9100080" y="14643127"/>
              <a:ext cx="2093300" cy="1061347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Survey &amp; Interview</a:t>
              </a:r>
              <a:endParaRPr kumimoji="1"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48669701-C21E-C12A-FF0A-3150438ED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8640" y="15749273"/>
              <a:ext cx="2352777" cy="6923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右中括号 78">
              <a:extLst>
                <a:ext uri="{FF2B5EF4-FFF2-40B4-BE49-F238E27FC236}">
                  <a16:creationId xmlns:a16="http://schemas.microsoft.com/office/drawing/2014/main" id="{66FA06B2-F44C-4686-4D23-7B056C461D4B}"/>
                </a:ext>
              </a:extLst>
            </p:cNvPr>
            <p:cNvSpPr/>
            <p:nvPr/>
          </p:nvSpPr>
          <p:spPr>
            <a:xfrm rot="16200000">
              <a:off x="4298375" y="12845531"/>
              <a:ext cx="134677" cy="2106167"/>
            </a:xfrm>
            <a:prstGeom prst="rightBracket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1" name="右中括号 80">
              <a:extLst>
                <a:ext uri="{FF2B5EF4-FFF2-40B4-BE49-F238E27FC236}">
                  <a16:creationId xmlns:a16="http://schemas.microsoft.com/office/drawing/2014/main" id="{3E484B5A-795B-A072-E71F-4FA9909739C6}"/>
                </a:ext>
              </a:extLst>
            </p:cNvPr>
            <p:cNvSpPr/>
            <p:nvPr/>
          </p:nvSpPr>
          <p:spPr>
            <a:xfrm rot="16200000">
              <a:off x="6896684" y="12825469"/>
              <a:ext cx="134677" cy="2106167"/>
            </a:xfrm>
            <a:prstGeom prst="rightBracket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81C5B638-BB1B-4EFC-725C-0D46C64AEE42}"/>
                </a:ext>
              </a:extLst>
            </p:cNvPr>
            <p:cNvSpPr txBox="1"/>
            <p:nvPr/>
          </p:nvSpPr>
          <p:spPr>
            <a:xfrm>
              <a:off x="3467708" y="13445114"/>
              <a:ext cx="1824023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30 rounds</a:t>
              </a:r>
              <a:endPara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EDDE8883-94C3-3116-5EE0-C5BDE973171C}"/>
                </a:ext>
              </a:extLst>
            </p:cNvPr>
            <p:cNvSpPr txBox="1"/>
            <p:nvPr/>
          </p:nvSpPr>
          <p:spPr>
            <a:xfrm>
              <a:off x="6081690" y="13445114"/>
              <a:ext cx="1824023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50 rounds</a:t>
              </a:r>
              <a:endPara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2C67577B-B52D-FA67-E8AB-78F64597FBFA}"/>
                </a:ext>
              </a:extLst>
            </p:cNvPr>
            <p:cNvSpPr txBox="1"/>
            <p:nvPr/>
          </p:nvSpPr>
          <p:spPr>
            <a:xfrm>
              <a:off x="570851" y="13875052"/>
              <a:ext cx="2478065" cy="9541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Experienced Group</a:t>
              </a:r>
              <a:endPara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5315B99B-30F3-5D38-A7FB-996E98CC2E62}"/>
                </a:ext>
              </a:extLst>
            </p:cNvPr>
            <p:cNvSpPr txBox="1"/>
            <p:nvPr/>
          </p:nvSpPr>
          <p:spPr>
            <a:xfrm>
              <a:off x="592223" y="15391901"/>
              <a:ext cx="247806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Naïve group</a:t>
              </a:r>
              <a:endPara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9" name="图片 98" descr="图示&#10;&#10;描述已自动生成">
              <a:extLst>
                <a:ext uri="{FF2B5EF4-FFF2-40B4-BE49-F238E27FC236}">
                  <a16:creationId xmlns:a16="http://schemas.microsoft.com/office/drawing/2014/main" id="{8ED66043-5E8B-4E65-2FB1-DABD1CB32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rcRect l="69922" t="13491" r="7422" b="32250"/>
            <a:stretch/>
          </p:blipFill>
          <p:spPr>
            <a:xfrm>
              <a:off x="9667778" y="13452955"/>
              <a:ext cx="1293542" cy="10316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3385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5731A-783F-7ED8-823A-902BECA7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组合 295">
            <a:extLst>
              <a:ext uri="{FF2B5EF4-FFF2-40B4-BE49-F238E27FC236}">
                <a16:creationId xmlns:a16="http://schemas.microsoft.com/office/drawing/2014/main" id="{E23C0258-EF23-AD24-0155-12F5DF80DE63}"/>
              </a:ext>
            </a:extLst>
          </p:cNvPr>
          <p:cNvGrpSpPr/>
          <p:nvPr/>
        </p:nvGrpSpPr>
        <p:grpSpPr>
          <a:xfrm>
            <a:off x="-856947" y="116576"/>
            <a:ext cx="13050535" cy="12642281"/>
            <a:chOff x="-856947" y="116576"/>
            <a:chExt cx="13050535" cy="12642281"/>
          </a:xfrm>
        </p:grpSpPr>
        <p:sp>
          <p:nvSpPr>
            <p:cNvPr id="98" name="圆角矩形 97">
              <a:extLst>
                <a:ext uri="{FF2B5EF4-FFF2-40B4-BE49-F238E27FC236}">
                  <a16:creationId xmlns:a16="http://schemas.microsoft.com/office/drawing/2014/main" id="{76121703-65D7-D78F-ADA1-2ECC70365EBC}"/>
                </a:ext>
              </a:extLst>
            </p:cNvPr>
            <p:cNvSpPr/>
            <p:nvPr/>
          </p:nvSpPr>
          <p:spPr>
            <a:xfrm>
              <a:off x="8919430" y="2254763"/>
              <a:ext cx="2867896" cy="609443"/>
            </a:xfrm>
            <a:prstGeom prst="roundRect">
              <a:avLst>
                <a:gd name="adj" fmla="val 1696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7" name="圆角矩形 96">
              <a:extLst>
                <a:ext uri="{FF2B5EF4-FFF2-40B4-BE49-F238E27FC236}">
                  <a16:creationId xmlns:a16="http://schemas.microsoft.com/office/drawing/2014/main" id="{B0DC840A-0CC3-E1C4-564B-BC2DC3AC39C8}"/>
                </a:ext>
              </a:extLst>
            </p:cNvPr>
            <p:cNvSpPr/>
            <p:nvPr/>
          </p:nvSpPr>
          <p:spPr>
            <a:xfrm>
              <a:off x="4661418" y="2280928"/>
              <a:ext cx="3657897" cy="583278"/>
            </a:xfrm>
            <a:prstGeom prst="roundRect">
              <a:avLst>
                <a:gd name="adj" fmla="val 1696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6" name="圆角矩形 95">
              <a:extLst>
                <a:ext uri="{FF2B5EF4-FFF2-40B4-BE49-F238E27FC236}">
                  <a16:creationId xmlns:a16="http://schemas.microsoft.com/office/drawing/2014/main" id="{08E20812-31CD-B4EB-CD69-477F6F17E02E}"/>
                </a:ext>
              </a:extLst>
            </p:cNvPr>
            <p:cNvSpPr/>
            <p:nvPr/>
          </p:nvSpPr>
          <p:spPr>
            <a:xfrm>
              <a:off x="419749" y="2273364"/>
              <a:ext cx="3576477" cy="613606"/>
            </a:xfrm>
            <a:prstGeom prst="roundRect">
              <a:avLst>
                <a:gd name="adj" fmla="val 1696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8CED304-E2E7-D71F-AE0E-5B2A5008C39F}"/>
                </a:ext>
              </a:extLst>
            </p:cNvPr>
            <p:cNvSpPr txBox="1"/>
            <p:nvPr/>
          </p:nvSpPr>
          <p:spPr>
            <a:xfrm>
              <a:off x="0" y="116576"/>
              <a:ext cx="12193588" cy="1341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4000" b="1" dirty="0">
                  <a:solidFill>
                    <a:schemeClr val="accent2">
                      <a:lumMod val="75000"/>
                    </a:schemeClr>
                  </a:solidFill>
                </a:rPr>
                <a:t>Experiment2: multidimensional value learning task</a:t>
              </a:r>
            </a:p>
            <a:p>
              <a:pPr algn="ctr"/>
              <a:endParaRPr kumimoji="1" lang="zh-CN" altLang="en-US" sz="4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57CF1E6-5587-1196-F1BF-A615B59626BB}"/>
                </a:ext>
              </a:extLst>
            </p:cNvPr>
            <p:cNvSpPr txBox="1"/>
            <p:nvPr/>
          </p:nvSpPr>
          <p:spPr>
            <a:xfrm>
              <a:off x="-2" y="741601"/>
              <a:ext cx="121935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" altLang="zh-CN" sz="3200" dirty="0">
                  <a:solidFill>
                    <a:schemeClr val="bg2">
                      <a:lumMod val="50000"/>
                    </a:schemeClr>
                  </a:solidFill>
                </a:rPr>
                <a:t>Playing interior designer</a:t>
              </a:r>
              <a:r>
                <a:rPr kumimoji="1" lang="en-US" altLang="zh-CN" sz="3200" dirty="0">
                  <a:solidFill>
                    <a:schemeClr val="bg2">
                      <a:lumMod val="50000"/>
                    </a:schemeClr>
                  </a:solidFill>
                </a:rPr>
                <a:t> recommending room design</a:t>
              </a:r>
              <a:endParaRPr kumimoji="1" lang="zh-CN" altLang="en-US" sz="3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2A428C2-47D6-B088-BF50-CA2FC1B49AD4}"/>
                </a:ext>
              </a:extLst>
            </p:cNvPr>
            <p:cNvSpPr txBox="1"/>
            <p:nvPr/>
          </p:nvSpPr>
          <p:spPr>
            <a:xfrm>
              <a:off x="903664" y="2273364"/>
              <a:ext cx="262559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2">
                      <a:lumMod val="75000"/>
                    </a:schemeClr>
                  </a:solidFill>
                </a:rPr>
                <a:t>Stimulus array</a:t>
              </a:r>
              <a:endParaRPr kumimoji="1" lang="zh-CN" altLang="en-US" sz="3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FA8DF89-7209-A890-81B0-1D4F9F722EAA}"/>
                </a:ext>
              </a:extLst>
            </p:cNvPr>
            <p:cNvSpPr txBox="1"/>
            <p:nvPr/>
          </p:nvSpPr>
          <p:spPr>
            <a:xfrm>
              <a:off x="4929672" y="2287779"/>
              <a:ext cx="31917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2">
                      <a:lumMod val="75000"/>
                    </a:schemeClr>
                  </a:solidFill>
                </a:rPr>
                <a:t>Composite choice</a:t>
              </a:r>
              <a:endParaRPr kumimoji="1" lang="zh-CN" altLang="en-US" sz="3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77" name="圆角矩形 76">
              <a:extLst>
                <a:ext uri="{FF2B5EF4-FFF2-40B4-BE49-F238E27FC236}">
                  <a16:creationId xmlns:a16="http://schemas.microsoft.com/office/drawing/2014/main" id="{65477751-2693-2874-217B-FED19609DA0E}"/>
                </a:ext>
              </a:extLst>
            </p:cNvPr>
            <p:cNvSpPr/>
            <p:nvPr/>
          </p:nvSpPr>
          <p:spPr>
            <a:xfrm>
              <a:off x="430054" y="2263384"/>
              <a:ext cx="3576477" cy="3803138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0" name="圆角矩形 79">
              <a:extLst>
                <a:ext uri="{FF2B5EF4-FFF2-40B4-BE49-F238E27FC236}">
                  <a16:creationId xmlns:a16="http://schemas.microsoft.com/office/drawing/2014/main" id="{B47BB036-DF55-8081-8772-746CFCEB3249}"/>
                </a:ext>
              </a:extLst>
            </p:cNvPr>
            <p:cNvSpPr/>
            <p:nvPr/>
          </p:nvSpPr>
          <p:spPr>
            <a:xfrm>
              <a:off x="4664471" y="2263384"/>
              <a:ext cx="3654846" cy="3803138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9" name="圆角矩形 88">
              <a:extLst>
                <a:ext uri="{FF2B5EF4-FFF2-40B4-BE49-F238E27FC236}">
                  <a16:creationId xmlns:a16="http://schemas.microsoft.com/office/drawing/2014/main" id="{AC21E307-7132-D545-7E21-E4F2E1C2A664}"/>
                </a:ext>
              </a:extLst>
            </p:cNvPr>
            <p:cNvSpPr/>
            <p:nvPr/>
          </p:nvSpPr>
          <p:spPr>
            <a:xfrm>
              <a:off x="8929735" y="2263383"/>
              <a:ext cx="2860643" cy="3803138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BF1CE498-CB91-F410-B5F7-7F4BADD993A2}"/>
                </a:ext>
              </a:extLst>
            </p:cNvPr>
            <p:cNvSpPr txBox="1"/>
            <p:nvPr/>
          </p:nvSpPr>
          <p:spPr>
            <a:xfrm>
              <a:off x="9009821" y="2273364"/>
              <a:ext cx="275646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2">
                      <a:lumMod val="75000"/>
                    </a:schemeClr>
                  </a:solidFill>
                </a:rPr>
                <a:t>Score feedback</a:t>
              </a:r>
              <a:endParaRPr kumimoji="1" lang="zh-CN" altLang="en-US" sz="3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09C65BAC-0C24-6EE0-F1B5-610E1005F0F3}"/>
                </a:ext>
              </a:extLst>
            </p:cNvPr>
            <p:cNvSpPr txBox="1"/>
            <p:nvPr/>
          </p:nvSpPr>
          <p:spPr>
            <a:xfrm>
              <a:off x="266494" y="1434614"/>
              <a:ext cx="28664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2">
                      <a:lumMod val="75000"/>
                    </a:schemeClr>
                  </a:solidFill>
                </a:rPr>
                <a:t>Within one trial</a:t>
              </a:r>
              <a:endParaRPr kumimoji="1" lang="zh-CN" altLang="en-US" sz="3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7A734C4E-0E29-FC74-C8C4-BAA3629FAADC}"/>
                </a:ext>
              </a:extLst>
            </p:cNvPr>
            <p:cNvSpPr txBox="1"/>
            <p:nvPr/>
          </p:nvSpPr>
          <p:spPr>
            <a:xfrm>
              <a:off x="837106" y="6419553"/>
              <a:ext cx="104416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</a:rPr>
                <a:t>Repeated trials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</a:rPr>
                <a:t>·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</a:rPr>
                <a:t>Self-paced ·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</a:rPr>
                <a:t>End at score of 100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</a:rPr>
                <a:t>·</a:t>
              </a:r>
              <a:r>
                <a:rPr kumimoji="1" lang="zh-CN" altLang="en-US" sz="28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</a:rPr>
                <a:t>max 60 trials</a:t>
              </a:r>
              <a:endParaRPr kumimoji="1" lang="zh-CN" altLang="en-US" sz="2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5F82D784-1B2B-D476-A822-822AFCB6F3D6}"/>
                </a:ext>
              </a:extLst>
            </p:cNvPr>
            <p:cNvCxnSpPr/>
            <p:nvPr/>
          </p:nvCxnSpPr>
          <p:spPr>
            <a:xfrm>
              <a:off x="418158" y="6289340"/>
              <a:ext cx="11357272" cy="0"/>
            </a:xfrm>
            <a:prstGeom prst="line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730BE527-8EFE-FE75-ACE3-BDCF97961855}"/>
                </a:ext>
              </a:extLst>
            </p:cNvPr>
            <p:cNvSpPr txBox="1"/>
            <p:nvPr/>
          </p:nvSpPr>
          <p:spPr>
            <a:xfrm>
              <a:off x="352263" y="7271879"/>
              <a:ext cx="404668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b="1" dirty="0">
                  <a:solidFill>
                    <a:schemeClr val="accent2">
                      <a:lumMod val="75000"/>
                    </a:schemeClr>
                  </a:solidFill>
                </a:rPr>
                <a:t>Stimulus feature space</a:t>
              </a:r>
              <a:endParaRPr kumimoji="1" lang="zh-CN" altLang="en-US" sz="3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B9A69503-F948-B4A1-2A52-D1F7B601D02B}"/>
                </a:ext>
              </a:extLst>
            </p:cNvPr>
            <p:cNvGrpSpPr/>
            <p:nvPr/>
          </p:nvGrpSpPr>
          <p:grpSpPr>
            <a:xfrm rot="5400000">
              <a:off x="10284692" y="6170736"/>
              <a:ext cx="859032" cy="2653879"/>
              <a:chOff x="10899836" y="8054658"/>
              <a:chExt cx="859032" cy="2653879"/>
            </a:xfrm>
          </p:grpSpPr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C89F27CC-3525-78B7-DB50-D1A1170FB140}"/>
                  </a:ext>
                </a:extLst>
              </p:cNvPr>
              <p:cNvSpPr/>
              <p:nvPr/>
            </p:nvSpPr>
            <p:spPr>
              <a:xfrm>
                <a:off x="11372163" y="8608874"/>
                <a:ext cx="268815" cy="1544839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46000">
                    <a:srgbClr val="FDF08C"/>
                  </a:gs>
                  <a:gs pos="78000">
                    <a:srgbClr val="FDEA50"/>
                  </a:gs>
                  <a:gs pos="100000">
                    <a:srgbClr val="FFDB00"/>
                  </a:gs>
                </a:gsLst>
                <a:lin ang="5400000" scaled="1"/>
                <a:tileRect/>
              </a:gradFill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742B797B-E0D2-9279-05BA-CCBC73AE4CAB}"/>
                  </a:ext>
                </a:extLst>
              </p:cNvPr>
              <p:cNvSpPr txBox="1"/>
              <p:nvPr/>
            </p:nvSpPr>
            <p:spPr>
              <a:xfrm rot="16200000">
                <a:off x="9914936" y="9144568"/>
                <a:ext cx="24314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dirty="0"/>
                  <a:t>Original Value</a:t>
                </a:r>
                <a:endParaRPr kumimoji="1" lang="zh-CN" altLang="en-US" sz="2400" dirty="0"/>
              </a:p>
            </p:txBody>
          </p: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409C0A6F-10F2-33FC-7C16-EF20D70DA95C}"/>
                  </a:ext>
                </a:extLst>
              </p:cNvPr>
              <p:cNvSpPr txBox="1"/>
              <p:nvPr/>
            </p:nvSpPr>
            <p:spPr>
              <a:xfrm rot="16200000">
                <a:off x="11250399" y="10200067"/>
                <a:ext cx="5552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dirty="0"/>
                  <a:t>0</a:t>
                </a:r>
                <a:endParaRPr kumimoji="1" lang="zh-CN" altLang="en-US" sz="2400" dirty="0"/>
              </a:p>
            </p:txBody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3DD65310-EA67-8A39-D2D9-33EDB0B1899A}"/>
                  </a:ext>
                </a:extLst>
              </p:cNvPr>
              <p:cNvSpPr txBox="1"/>
              <p:nvPr/>
            </p:nvSpPr>
            <p:spPr>
              <a:xfrm rot="16200000">
                <a:off x="11193380" y="8131464"/>
                <a:ext cx="6152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dirty="0"/>
                  <a:t>10</a:t>
                </a:r>
                <a:endParaRPr kumimoji="1" lang="zh-CN" altLang="en-US" sz="2400" dirty="0"/>
              </a:p>
            </p:txBody>
          </p:sp>
        </p:grp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01CCCFD9-5234-3526-1E4C-E157D6ECFF39}"/>
                </a:ext>
              </a:extLst>
            </p:cNvPr>
            <p:cNvSpPr txBox="1"/>
            <p:nvPr/>
          </p:nvSpPr>
          <p:spPr>
            <a:xfrm>
              <a:off x="3383374" y="10678518"/>
              <a:ext cx="88102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</a:rPr>
                <a:t>Two dimension are score relevant</a:t>
              </a:r>
              <a:endParaRPr kumimoji="1" lang="zh-CN" altLang="en-US" sz="2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2F2667FE-BBAA-E985-0E1A-87564665DAA5}"/>
                </a:ext>
              </a:extLst>
            </p:cNvPr>
            <p:cNvGrpSpPr/>
            <p:nvPr/>
          </p:nvGrpSpPr>
          <p:grpSpPr>
            <a:xfrm>
              <a:off x="9249194" y="4114092"/>
              <a:ext cx="2496405" cy="980892"/>
              <a:chOff x="9165381" y="4553630"/>
              <a:chExt cx="2496405" cy="980892"/>
            </a:xfrm>
          </p:grpSpPr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D459232D-998E-6B5F-195F-0584432CB3D1}"/>
                  </a:ext>
                </a:extLst>
              </p:cNvPr>
              <p:cNvSpPr/>
              <p:nvPr/>
            </p:nvSpPr>
            <p:spPr>
              <a:xfrm rot="5400000">
                <a:off x="10166468" y="3864000"/>
                <a:ext cx="229854" cy="1851126"/>
              </a:xfrm>
              <a:prstGeom prst="rect">
                <a:avLst/>
              </a:prstGeom>
              <a:solidFill>
                <a:schemeClr val="bg1"/>
              </a:solidFill>
              <a:ln w="4762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95C97760-A982-74FE-F6F9-DC7560D33E02}"/>
                  </a:ext>
                </a:extLst>
              </p:cNvPr>
              <p:cNvSpPr txBox="1"/>
              <p:nvPr/>
            </p:nvSpPr>
            <p:spPr>
              <a:xfrm>
                <a:off x="9165381" y="4949747"/>
                <a:ext cx="5552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3200" dirty="0"/>
                  <a:t>0</a:t>
                </a:r>
                <a:endParaRPr kumimoji="1" lang="zh-CN" altLang="en-US" sz="3200" dirty="0"/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BFF95783-531C-3957-088A-E99DD1A1B152}"/>
                  </a:ext>
                </a:extLst>
              </p:cNvPr>
              <p:cNvSpPr txBox="1"/>
              <p:nvPr/>
            </p:nvSpPr>
            <p:spPr>
              <a:xfrm>
                <a:off x="10670248" y="4932413"/>
                <a:ext cx="9915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3200" dirty="0"/>
                  <a:t>100</a:t>
                </a:r>
                <a:endParaRPr kumimoji="1" lang="zh-CN" altLang="en-US" sz="3200" dirty="0"/>
              </a:p>
            </p:txBody>
          </p:sp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0FC891EB-D5C0-BF8D-975B-98E25015D26F}"/>
                  </a:ext>
                </a:extLst>
              </p:cNvPr>
              <p:cNvSpPr/>
              <p:nvPr/>
            </p:nvSpPr>
            <p:spPr>
              <a:xfrm>
                <a:off x="10311039" y="4553630"/>
                <a:ext cx="108000" cy="576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539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cxnSp>
          <p:nvCxnSpPr>
            <p:cNvPr id="181" name="直线连接符 180">
              <a:extLst>
                <a:ext uri="{FF2B5EF4-FFF2-40B4-BE49-F238E27FC236}">
                  <a16:creationId xmlns:a16="http://schemas.microsoft.com/office/drawing/2014/main" id="{0738669E-6855-FC9E-E0F5-233F9F532EF6}"/>
                </a:ext>
              </a:extLst>
            </p:cNvPr>
            <p:cNvCxnSpPr>
              <a:cxnSpLocks/>
            </p:cNvCxnSpPr>
            <p:nvPr/>
          </p:nvCxnSpPr>
          <p:spPr>
            <a:xfrm>
              <a:off x="4158085" y="4351737"/>
              <a:ext cx="461512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线连接符 183">
              <a:extLst>
                <a:ext uri="{FF2B5EF4-FFF2-40B4-BE49-F238E27FC236}">
                  <a16:creationId xmlns:a16="http://schemas.microsoft.com/office/drawing/2014/main" id="{1E568D3C-84AB-F21E-7191-AECD3824FC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9914" y="4351737"/>
              <a:ext cx="461512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图片 3" descr="桌子上摆放着一些食物的照片&#10;&#10;低可信度描述已自动生成">
              <a:extLst>
                <a:ext uri="{FF2B5EF4-FFF2-40B4-BE49-F238E27FC236}">
                  <a16:creationId xmlns:a16="http://schemas.microsoft.com/office/drawing/2014/main" id="{CFF7E4D7-57B3-DCCE-B7BB-2CBC42E79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727" y="3241890"/>
              <a:ext cx="3005603" cy="2397325"/>
            </a:xfrm>
            <a:prstGeom prst="rect">
              <a:avLst/>
            </a:prstGeom>
            <a:noFill/>
          </p:spPr>
        </p:pic>
        <p:pic>
          <p:nvPicPr>
            <p:cNvPr id="10" name="图片 9" descr="桌子上有壁炉的客厅&#10;&#10;中度可信度描述已自动生成">
              <a:extLst>
                <a:ext uri="{FF2B5EF4-FFF2-40B4-BE49-F238E27FC236}">
                  <a16:creationId xmlns:a16="http://schemas.microsoft.com/office/drawing/2014/main" id="{6277DA98-67A8-119E-F71E-8D3E21C4D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6561" y="3302629"/>
              <a:ext cx="2782504" cy="2157449"/>
            </a:xfrm>
            <a:prstGeom prst="rect">
              <a:avLst/>
            </a:prstGeom>
            <a:noFill/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063093-6E69-0471-DCBF-3DEB44460AA7}"/>
                </a:ext>
              </a:extLst>
            </p:cNvPr>
            <p:cNvSpPr/>
            <p:nvPr/>
          </p:nvSpPr>
          <p:spPr>
            <a:xfrm>
              <a:off x="9817496" y="3020121"/>
              <a:ext cx="1043876" cy="212365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66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56</a:t>
              </a:r>
            </a:p>
            <a:p>
              <a:pPr algn="ctr"/>
              <a:endParaRPr lang="zh-CN" altLang="en-US" sz="6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A003605-879B-98C9-D360-24283EE4D08E}"/>
                </a:ext>
              </a:extLst>
            </p:cNvPr>
            <p:cNvSpPr txBox="1"/>
            <p:nvPr/>
          </p:nvSpPr>
          <p:spPr>
            <a:xfrm>
              <a:off x="8988992" y="5134211"/>
              <a:ext cx="28558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2">
                      <a:lumMod val="50000"/>
                    </a:schemeClr>
                  </a:solidFill>
                </a:rPr>
                <a:t>Sum of 4 picture selected</a:t>
              </a:r>
              <a:endParaRPr kumimoji="1" lang="zh-CN" altLang="en-US" sz="2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15" name="图片 14" descr="房间里的沙发&#10;&#10;中度可信度描述已自动生成">
              <a:extLst>
                <a:ext uri="{FF2B5EF4-FFF2-40B4-BE49-F238E27FC236}">
                  <a16:creationId xmlns:a16="http://schemas.microsoft.com/office/drawing/2014/main" id="{E1BF0E07-C5E7-86B9-30EE-CE1E1FB1C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356" y="8267088"/>
              <a:ext cx="3150018" cy="2360457"/>
            </a:xfrm>
            <a:prstGeom prst="rect">
              <a:avLst/>
            </a:prstGeom>
            <a:noFill/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DAAE4C8-C0B9-26C3-258A-296CF9B5A173}"/>
                </a:ext>
              </a:extLst>
            </p:cNvPr>
            <p:cNvSpPr txBox="1"/>
            <p:nvPr/>
          </p:nvSpPr>
          <p:spPr>
            <a:xfrm>
              <a:off x="8816180" y="7988982"/>
              <a:ext cx="1318174" cy="770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ts val="2560"/>
                </a:lnSpc>
                <a:defRPr kumimoji="1" sz="2800" b="1">
                  <a:solidFill>
                    <a:schemeClr val="accent2">
                      <a:lumMod val="75000"/>
                    </a:schemeClr>
                  </a:solidFill>
                </a:defRPr>
              </a:lvl1pPr>
            </a:lstStyle>
            <a:p>
              <a:r>
                <a:rPr lang="en-US" altLang="zh-CN" dirty="0"/>
                <a:t>Coffee table</a:t>
              </a:r>
              <a:endParaRPr lang="zh-CN" altLang="en-US" dirty="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4C15BF8-9C3C-B38B-D38B-34E2901114CB}"/>
                </a:ext>
              </a:extLst>
            </p:cNvPr>
            <p:cNvSpPr txBox="1"/>
            <p:nvPr/>
          </p:nvSpPr>
          <p:spPr>
            <a:xfrm>
              <a:off x="10849284" y="8075676"/>
              <a:ext cx="767987" cy="530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accent2">
                      <a:lumMod val="75000"/>
                    </a:schemeClr>
                  </a:solidFill>
                </a:rPr>
                <a:t>Rug</a:t>
              </a:r>
              <a:endParaRPr kumimoji="1" lang="zh-CN" altLang="en-US" sz="28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6C5F2C1F-7C82-EBBE-64BD-C825BAB86037}"/>
                </a:ext>
              </a:extLst>
            </p:cNvPr>
            <p:cNvSpPr txBox="1"/>
            <p:nvPr/>
          </p:nvSpPr>
          <p:spPr>
            <a:xfrm>
              <a:off x="7242713" y="8049943"/>
              <a:ext cx="1318173" cy="770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ts val="2560"/>
                </a:lnSpc>
                <a:defRPr kumimoji="1" sz="2800" b="1">
                  <a:solidFill>
                    <a:schemeClr val="accent2">
                      <a:lumMod val="75000"/>
                    </a:schemeClr>
                  </a:solidFill>
                </a:defRPr>
              </a:lvl1pPr>
            </a:lstStyle>
            <a:p>
              <a:r>
                <a:rPr lang="en-US" altLang="zh-CN" dirty="0"/>
                <a:t>Potted plant</a:t>
              </a:r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35FDD77-4813-AD36-AB88-70C8AAE62376}"/>
                </a:ext>
              </a:extLst>
            </p:cNvPr>
            <p:cNvSpPr txBox="1"/>
            <p:nvPr/>
          </p:nvSpPr>
          <p:spPr>
            <a:xfrm>
              <a:off x="5460591" y="8049943"/>
              <a:ext cx="1533618" cy="770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560"/>
                </a:lnSpc>
              </a:pPr>
              <a:r>
                <a:rPr kumimoji="1" lang="en-US" altLang="zh-CN" sz="2800" b="1" dirty="0">
                  <a:solidFill>
                    <a:schemeClr val="accent2">
                      <a:lumMod val="75000"/>
                    </a:schemeClr>
                  </a:solidFill>
                </a:rPr>
                <a:t>Wall painting</a:t>
              </a:r>
              <a:endParaRPr kumimoji="1" lang="zh-CN" altLang="en-US" sz="28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A37F3C01-4BE7-C797-AC61-ECFD62E32578}"/>
                </a:ext>
              </a:extLst>
            </p:cNvPr>
            <p:cNvGrpSpPr/>
            <p:nvPr/>
          </p:nvGrpSpPr>
          <p:grpSpPr>
            <a:xfrm>
              <a:off x="8718320" y="8776153"/>
              <a:ext cx="1558571" cy="1401778"/>
              <a:chOff x="5351154" y="8708788"/>
              <a:chExt cx="1558571" cy="1401778"/>
            </a:xfrm>
          </p:grpSpPr>
          <p:pic>
            <p:nvPicPr>
              <p:cNvPr id="101" name="图片 100" descr="图片包含 桌子, 家具, 监控, 前&#10;&#10;AI 生成的内容可能不正确。">
                <a:extLst>
                  <a:ext uri="{FF2B5EF4-FFF2-40B4-BE49-F238E27FC236}">
                    <a16:creationId xmlns:a16="http://schemas.microsoft.com/office/drawing/2014/main" id="{0FFDBE65-8B59-E3AA-A115-1218D118A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52175" y="8708788"/>
                <a:ext cx="810000" cy="540000"/>
              </a:xfrm>
              <a:prstGeom prst="rect">
                <a:avLst/>
              </a:prstGeom>
              <a:noFill/>
            </p:spPr>
          </p:pic>
          <p:pic>
            <p:nvPicPr>
              <p:cNvPr id="134" name="图片 133" descr="桌子上放着帽子&#10;&#10;AI 生成的内容可能不正确。">
                <a:extLst>
                  <a:ext uri="{FF2B5EF4-FFF2-40B4-BE49-F238E27FC236}">
                    <a16:creationId xmlns:a16="http://schemas.microsoft.com/office/drawing/2014/main" id="{D0303BF4-BA05-25DA-6907-FB9D594DC4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9725" y="8713272"/>
                <a:ext cx="810000" cy="540000"/>
              </a:xfrm>
              <a:prstGeom prst="rect">
                <a:avLst/>
              </a:prstGeom>
              <a:noFill/>
            </p:spPr>
          </p:pic>
          <p:pic>
            <p:nvPicPr>
              <p:cNvPr id="165" name="图片 164" descr="木桌子上&#10;&#10;AI 生成的内容可能不正确。">
                <a:extLst>
                  <a:ext uri="{FF2B5EF4-FFF2-40B4-BE49-F238E27FC236}">
                    <a16:creationId xmlns:a16="http://schemas.microsoft.com/office/drawing/2014/main" id="{8C5387E7-44E1-9BF8-4061-88B99158AD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51154" y="9570566"/>
                <a:ext cx="810000" cy="540000"/>
              </a:xfrm>
              <a:prstGeom prst="rect">
                <a:avLst/>
              </a:prstGeom>
              <a:noFill/>
            </p:spPr>
          </p:pic>
          <p:pic>
            <p:nvPicPr>
              <p:cNvPr id="166" name="图片 165" descr="图片包含 桌子, 雪, 凳子, 木&#10;&#10;AI 生成的内容可能不正确。">
                <a:extLst>
                  <a:ext uri="{FF2B5EF4-FFF2-40B4-BE49-F238E27FC236}">
                    <a16:creationId xmlns:a16="http://schemas.microsoft.com/office/drawing/2014/main" id="{B86DE4AC-8D40-5FC1-726F-0979D027A1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99725" y="9557612"/>
                <a:ext cx="810000" cy="540000"/>
              </a:xfrm>
              <a:prstGeom prst="rect">
                <a:avLst/>
              </a:prstGeom>
              <a:noFill/>
            </p:spPr>
          </p:pic>
        </p:grpSp>
        <p:grpSp>
          <p:nvGrpSpPr>
            <p:cNvPr id="186" name="组合 185">
              <a:extLst>
                <a:ext uri="{FF2B5EF4-FFF2-40B4-BE49-F238E27FC236}">
                  <a16:creationId xmlns:a16="http://schemas.microsoft.com/office/drawing/2014/main" id="{764A6BDC-F47E-8E12-9570-A051B382D7B0}"/>
                </a:ext>
              </a:extLst>
            </p:cNvPr>
            <p:cNvGrpSpPr/>
            <p:nvPr/>
          </p:nvGrpSpPr>
          <p:grpSpPr>
            <a:xfrm>
              <a:off x="3610967" y="8128060"/>
              <a:ext cx="1620000" cy="2098831"/>
              <a:chOff x="3823605" y="7970282"/>
              <a:chExt cx="1620000" cy="2098831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2F3C825-E546-5786-D638-73FE2985F6B7}"/>
                  </a:ext>
                </a:extLst>
              </p:cNvPr>
              <p:cNvSpPr txBox="1"/>
              <p:nvPr/>
            </p:nvSpPr>
            <p:spPr>
              <a:xfrm>
                <a:off x="4258458" y="7970282"/>
                <a:ext cx="83292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800" b="1" dirty="0">
                    <a:solidFill>
                      <a:schemeClr val="accent2">
                        <a:lumMod val="75000"/>
                      </a:schemeClr>
                    </a:solidFill>
                  </a:rPr>
                  <a:t>Sofa</a:t>
                </a:r>
                <a:endParaRPr kumimoji="1" lang="zh-CN" altLang="en-US" sz="28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grpSp>
            <p:nvGrpSpPr>
              <p:cNvPr id="172" name="组合 171">
                <a:extLst>
                  <a:ext uri="{FF2B5EF4-FFF2-40B4-BE49-F238E27FC236}">
                    <a16:creationId xmlns:a16="http://schemas.microsoft.com/office/drawing/2014/main" id="{5B2C188B-524B-7C63-016B-D7D7C8EFB014}"/>
                  </a:ext>
                </a:extLst>
              </p:cNvPr>
              <p:cNvGrpSpPr/>
              <p:nvPr/>
            </p:nvGrpSpPr>
            <p:grpSpPr>
              <a:xfrm>
                <a:off x="3823605" y="8683093"/>
                <a:ext cx="1620000" cy="1386020"/>
                <a:chOff x="1001459" y="15128164"/>
                <a:chExt cx="1620000" cy="1386020"/>
              </a:xfrm>
            </p:grpSpPr>
            <p:pic>
              <p:nvPicPr>
                <p:cNvPr id="173" name="图片 172" descr="沙发上有椅子&#10;&#10;AI 生成的内容可能不正确。">
                  <a:extLst>
                    <a:ext uri="{FF2B5EF4-FFF2-40B4-BE49-F238E27FC236}">
                      <a16:creationId xmlns:a16="http://schemas.microsoft.com/office/drawing/2014/main" id="{00317DC6-7BCE-6686-35C2-3BDCE84E99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89440" y="15952451"/>
                  <a:ext cx="810000" cy="540000"/>
                </a:xfrm>
                <a:prstGeom prst="rect">
                  <a:avLst/>
                </a:prstGeom>
                <a:noFill/>
              </p:spPr>
            </p:pic>
            <p:pic>
              <p:nvPicPr>
                <p:cNvPr id="176" name="图片 175" descr="沙发上有椅子&#10;&#10;AI 生成的内容可能不正确。">
                  <a:extLst>
                    <a:ext uri="{FF2B5EF4-FFF2-40B4-BE49-F238E27FC236}">
                      <a16:creationId xmlns:a16="http://schemas.microsoft.com/office/drawing/2014/main" id="{3209BBA8-F497-579C-AEA6-FE7B44D56C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1459" y="15974184"/>
                  <a:ext cx="810000" cy="540000"/>
                </a:xfrm>
                <a:prstGeom prst="rect">
                  <a:avLst/>
                </a:prstGeom>
                <a:noFill/>
              </p:spPr>
            </p:pic>
            <p:pic>
              <p:nvPicPr>
                <p:cNvPr id="180" name="图片 179" descr="灰色的沙发&#10;&#10;AI 生成的内容可能不正确。">
                  <a:extLst>
                    <a:ext uri="{FF2B5EF4-FFF2-40B4-BE49-F238E27FC236}">
                      <a16:creationId xmlns:a16="http://schemas.microsoft.com/office/drawing/2014/main" id="{A924AD6B-C800-EB13-B526-CEC66DF792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1459" y="15128164"/>
                  <a:ext cx="810000" cy="540000"/>
                </a:xfrm>
                <a:prstGeom prst="rect">
                  <a:avLst/>
                </a:prstGeom>
                <a:noFill/>
              </p:spPr>
            </p:pic>
            <p:pic>
              <p:nvPicPr>
                <p:cNvPr id="182" name="图片 181" descr="沙发上有椅子&#10;&#10;AI 生成的内容可能不正确。">
                  <a:extLst>
                    <a:ext uri="{FF2B5EF4-FFF2-40B4-BE49-F238E27FC236}">
                      <a16:creationId xmlns:a16="http://schemas.microsoft.com/office/drawing/2014/main" id="{1E6CBADF-4FAA-F58C-9496-A5AEB396BD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11459" y="15128164"/>
                  <a:ext cx="810000" cy="540000"/>
                </a:xfrm>
                <a:prstGeom prst="rect">
                  <a:avLst/>
                </a:prstGeom>
                <a:noFill/>
              </p:spPr>
            </p:pic>
          </p:grpSp>
        </p:grpSp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2D5F70BF-9C9D-2EBB-DC4E-88C0A8A71C79}"/>
                </a:ext>
              </a:extLst>
            </p:cNvPr>
            <p:cNvGrpSpPr/>
            <p:nvPr/>
          </p:nvGrpSpPr>
          <p:grpSpPr>
            <a:xfrm>
              <a:off x="5577228" y="8817474"/>
              <a:ext cx="1237393" cy="1418764"/>
              <a:chOff x="6917587" y="8733420"/>
              <a:chExt cx="1237393" cy="1418764"/>
            </a:xfrm>
          </p:grpSpPr>
          <p:pic>
            <p:nvPicPr>
              <p:cNvPr id="187" name="图片 186">
                <a:extLst>
                  <a:ext uri="{FF2B5EF4-FFF2-40B4-BE49-F238E27FC236}">
                    <a16:creationId xmlns:a16="http://schemas.microsoft.com/office/drawing/2014/main" id="{A03ED773-5334-2CDA-CDE4-F279474FD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t="8746" b="5316"/>
              <a:stretch>
                <a:fillRect/>
              </a:stretch>
            </p:blipFill>
            <p:spPr>
              <a:xfrm>
                <a:off x="6917587" y="8755110"/>
                <a:ext cx="533126" cy="518310"/>
              </a:xfrm>
              <a:prstGeom prst="rect">
                <a:avLst/>
              </a:prstGeom>
              <a:noFill/>
            </p:spPr>
          </p:pic>
          <p:pic>
            <p:nvPicPr>
              <p:cNvPr id="188" name="图片 187" descr="不同类型的水果&#10;&#10;AI 生成的内容可能不正确。">
                <a:extLst>
                  <a:ext uri="{FF2B5EF4-FFF2-40B4-BE49-F238E27FC236}">
                    <a16:creationId xmlns:a16="http://schemas.microsoft.com/office/drawing/2014/main" id="{A3315F10-EAD5-01E1-6F46-E6F53FE7F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l="4417" t="12874" r="6510" b="19168"/>
              <a:stretch>
                <a:fillRect/>
              </a:stretch>
            </p:blipFill>
            <p:spPr>
              <a:xfrm>
                <a:off x="7623060" y="8733420"/>
                <a:ext cx="514843" cy="540000"/>
              </a:xfrm>
              <a:prstGeom prst="rect">
                <a:avLst/>
              </a:prstGeom>
              <a:noFill/>
            </p:spPr>
          </p:pic>
          <p:pic>
            <p:nvPicPr>
              <p:cNvPr id="189" name="图片 188" descr="墙上挂着一幅画&#10;&#10;AI 生成的内容可能不正确。">
                <a:extLst>
                  <a:ext uri="{FF2B5EF4-FFF2-40B4-BE49-F238E27FC236}">
                    <a16:creationId xmlns:a16="http://schemas.microsoft.com/office/drawing/2014/main" id="{0F6F020F-70FE-3393-EB47-5372442CD1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rcRect l="10122" t="19438" r="9388" b="18120"/>
              <a:stretch>
                <a:fillRect/>
              </a:stretch>
            </p:blipFill>
            <p:spPr>
              <a:xfrm>
                <a:off x="6947771" y="9612184"/>
                <a:ext cx="523206" cy="540000"/>
              </a:xfrm>
              <a:prstGeom prst="rect">
                <a:avLst/>
              </a:prstGeom>
              <a:noFill/>
            </p:spPr>
          </p:pic>
          <p:pic>
            <p:nvPicPr>
              <p:cNvPr id="190" name="图片 189">
                <a:extLst>
                  <a:ext uri="{FF2B5EF4-FFF2-40B4-BE49-F238E27FC236}">
                    <a16:creationId xmlns:a16="http://schemas.microsoft.com/office/drawing/2014/main" id="{DA96AC64-485A-F64B-B9F3-D99566F94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rcRect t="4770"/>
              <a:stretch>
                <a:fillRect/>
              </a:stretch>
            </p:blipFill>
            <p:spPr>
              <a:xfrm>
                <a:off x="7623150" y="9612184"/>
                <a:ext cx="531830" cy="540000"/>
              </a:xfrm>
              <a:prstGeom prst="rect">
                <a:avLst/>
              </a:prstGeom>
              <a:noFill/>
            </p:spPr>
          </p:pic>
        </p:grp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9DC3B9DF-032D-A7BF-FE2C-EE6BE1EB54B7}"/>
                </a:ext>
              </a:extLst>
            </p:cNvPr>
            <p:cNvGrpSpPr/>
            <p:nvPr/>
          </p:nvGrpSpPr>
          <p:grpSpPr>
            <a:xfrm>
              <a:off x="10549740" y="8774186"/>
              <a:ext cx="1265287" cy="1390791"/>
              <a:chOff x="9859551" y="8683881"/>
              <a:chExt cx="1265287" cy="1390791"/>
            </a:xfrm>
          </p:grpSpPr>
          <p:pic>
            <p:nvPicPr>
              <p:cNvPr id="191" name="图片 190" descr="图片包含 体育, 桌子, 冲浪, 游戏机&#10;&#10;AI 生成的内容可能不正确。">
                <a:extLst>
                  <a:ext uri="{FF2B5EF4-FFF2-40B4-BE49-F238E27FC236}">
                    <a16:creationId xmlns:a16="http://schemas.microsoft.com/office/drawing/2014/main" id="{5EE388C7-C834-EAED-BCF2-8033DA92CC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rcRect l="2734" t="33408" r="2934" b="34714"/>
              <a:stretch>
                <a:fillRect/>
              </a:stretch>
            </p:blipFill>
            <p:spPr>
              <a:xfrm>
                <a:off x="10533620" y="8683881"/>
                <a:ext cx="566309" cy="503999"/>
              </a:xfrm>
              <a:prstGeom prst="rect">
                <a:avLst/>
              </a:prstGeom>
              <a:noFill/>
            </p:spPr>
          </p:pic>
          <p:pic>
            <p:nvPicPr>
              <p:cNvPr id="192" name="图片 191" descr="图片包含 游戏机, 房间&#10;&#10;AI 生成的内容可能不正确。">
                <a:extLst>
                  <a:ext uri="{FF2B5EF4-FFF2-40B4-BE49-F238E27FC236}">
                    <a16:creationId xmlns:a16="http://schemas.microsoft.com/office/drawing/2014/main" id="{93F29728-9121-5B83-8089-FDD0835BC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rcRect l="4094" t="36533" r="4189" b="36405"/>
              <a:stretch>
                <a:fillRect/>
              </a:stretch>
            </p:blipFill>
            <p:spPr>
              <a:xfrm>
                <a:off x="10521107" y="9632580"/>
                <a:ext cx="603731" cy="432000"/>
              </a:xfrm>
              <a:prstGeom prst="rect">
                <a:avLst/>
              </a:prstGeom>
              <a:noFill/>
            </p:spPr>
          </p:pic>
          <p:pic>
            <p:nvPicPr>
              <p:cNvPr id="193" name="图片 192">
                <a:extLst>
                  <a:ext uri="{FF2B5EF4-FFF2-40B4-BE49-F238E27FC236}">
                    <a16:creationId xmlns:a16="http://schemas.microsoft.com/office/drawing/2014/main" id="{2FBFAF81-B0EC-AACC-D339-497C28AB1A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2945" t="8833" r="1362" b="1"/>
              <a:stretch>
                <a:fillRect/>
              </a:stretch>
            </p:blipFill>
            <p:spPr>
              <a:xfrm>
                <a:off x="9876907" y="8770779"/>
                <a:ext cx="540007" cy="396000"/>
              </a:xfrm>
              <a:prstGeom prst="rect">
                <a:avLst/>
              </a:prstGeom>
              <a:noFill/>
            </p:spPr>
          </p:pic>
          <p:pic>
            <p:nvPicPr>
              <p:cNvPr id="194" name="图片 193">
                <a:extLst>
                  <a:ext uri="{FF2B5EF4-FFF2-40B4-BE49-F238E27FC236}">
                    <a16:creationId xmlns:a16="http://schemas.microsoft.com/office/drawing/2014/main" id="{49D909A2-D929-C2C8-AB05-CF5123FEF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859551" y="9642672"/>
                <a:ext cx="580661" cy="432000"/>
              </a:xfrm>
              <a:prstGeom prst="rect">
                <a:avLst/>
              </a:prstGeom>
              <a:noFill/>
            </p:spPr>
          </p:pic>
        </p:grpSp>
        <p:grpSp>
          <p:nvGrpSpPr>
            <p:cNvPr id="203" name="组合 202">
              <a:extLst>
                <a:ext uri="{FF2B5EF4-FFF2-40B4-BE49-F238E27FC236}">
                  <a16:creationId xmlns:a16="http://schemas.microsoft.com/office/drawing/2014/main" id="{7EBA9288-2776-6A25-58CB-B91F158820C8}"/>
                </a:ext>
              </a:extLst>
            </p:cNvPr>
            <p:cNvGrpSpPr/>
            <p:nvPr/>
          </p:nvGrpSpPr>
          <p:grpSpPr>
            <a:xfrm>
              <a:off x="7282394" y="8824218"/>
              <a:ext cx="1252702" cy="1412409"/>
              <a:chOff x="6929077" y="8770779"/>
              <a:chExt cx="1252702" cy="1412409"/>
            </a:xfrm>
          </p:grpSpPr>
          <p:pic>
            <p:nvPicPr>
              <p:cNvPr id="199" name="图片 198" descr="花瓶里插着花&#10;&#10;AI 生成的内容可能不正确。">
                <a:extLst>
                  <a:ext uri="{FF2B5EF4-FFF2-40B4-BE49-F238E27FC236}">
                    <a16:creationId xmlns:a16="http://schemas.microsoft.com/office/drawing/2014/main" id="{35C056F4-B6B9-76AE-0289-5DE312353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rcRect l="24403" r="23923"/>
              <a:stretch>
                <a:fillRect/>
              </a:stretch>
            </p:blipFill>
            <p:spPr>
              <a:xfrm>
                <a:off x="6956323" y="8770779"/>
                <a:ext cx="543120" cy="540000"/>
              </a:xfrm>
              <a:prstGeom prst="rect">
                <a:avLst/>
              </a:prstGeom>
              <a:noFill/>
            </p:spPr>
          </p:pic>
          <p:pic>
            <p:nvPicPr>
              <p:cNvPr id="200" name="图片 199" descr="花瓶里插着花&#10;&#10;AI 生成的内容可能不正确。">
                <a:extLst>
                  <a:ext uri="{FF2B5EF4-FFF2-40B4-BE49-F238E27FC236}">
                    <a16:creationId xmlns:a16="http://schemas.microsoft.com/office/drawing/2014/main" id="{47BE8548-49F3-CD84-9E3E-BDAAC77CD3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rcRect l="17660" r="22830"/>
              <a:stretch>
                <a:fillRect/>
              </a:stretch>
            </p:blipFill>
            <p:spPr>
              <a:xfrm>
                <a:off x="7498931" y="8783186"/>
                <a:ext cx="649682" cy="540000"/>
              </a:xfrm>
              <a:prstGeom prst="rect">
                <a:avLst/>
              </a:prstGeom>
              <a:noFill/>
            </p:spPr>
          </p:pic>
          <p:pic>
            <p:nvPicPr>
              <p:cNvPr id="201" name="图片 200" descr="花瓶里插着花&#10;&#10;AI 生成的内容可能不正确。">
                <a:extLst>
                  <a:ext uri="{FF2B5EF4-FFF2-40B4-BE49-F238E27FC236}">
                    <a16:creationId xmlns:a16="http://schemas.microsoft.com/office/drawing/2014/main" id="{76541444-398C-4CC6-42D5-7FA3BBACDF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rcRect l="19744" r="22245"/>
              <a:stretch>
                <a:fillRect/>
              </a:stretch>
            </p:blipFill>
            <p:spPr>
              <a:xfrm>
                <a:off x="6929077" y="9632385"/>
                <a:ext cx="619199" cy="540000"/>
              </a:xfrm>
              <a:prstGeom prst="rect">
                <a:avLst/>
              </a:prstGeom>
              <a:noFill/>
            </p:spPr>
          </p:pic>
          <p:pic>
            <p:nvPicPr>
              <p:cNvPr id="202" name="图片 201" descr="花瓶里插着绿色的植物&#10;&#10;AI 生成的内容可能不正确。">
                <a:extLst>
                  <a:ext uri="{FF2B5EF4-FFF2-40B4-BE49-F238E27FC236}">
                    <a16:creationId xmlns:a16="http://schemas.microsoft.com/office/drawing/2014/main" id="{20552112-DB8A-1D48-4F42-4EBA9DE38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rcRect l="28992" r="18949"/>
              <a:stretch>
                <a:fillRect/>
              </a:stretch>
            </p:blipFill>
            <p:spPr>
              <a:xfrm>
                <a:off x="7598796" y="9643188"/>
                <a:ext cx="582983" cy="540000"/>
              </a:xfrm>
              <a:prstGeom prst="rect">
                <a:avLst/>
              </a:prstGeom>
              <a:noFill/>
            </p:spPr>
          </p:pic>
        </p:grp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89311044-0B80-CD3F-F8C0-743DA816216C}"/>
                </a:ext>
              </a:extLst>
            </p:cNvPr>
            <p:cNvSpPr/>
            <p:nvPr/>
          </p:nvSpPr>
          <p:spPr>
            <a:xfrm>
              <a:off x="2034738" y="8505363"/>
              <a:ext cx="793522" cy="764476"/>
            </a:xfrm>
            <a:prstGeom prst="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ABDB2B8B-A157-206D-F3EE-7C0F100EF408}"/>
                </a:ext>
              </a:extLst>
            </p:cNvPr>
            <p:cNvSpPr/>
            <p:nvPr/>
          </p:nvSpPr>
          <p:spPr>
            <a:xfrm>
              <a:off x="738342" y="9105369"/>
              <a:ext cx="613457" cy="764476"/>
            </a:xfrm>
            <a:prstGeom prst="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6AC20DD2-9D46-C451-6538-467628F41845}"/>
                </a:ext>
              </a:extLst>
            </p:cNvPr>
            <p:cNvSpPr/>
            <p:nvPr/>
          </p:nvSpPr>
          <p:spPr>
            <a:xfrm>
              <a:off x="1124302" y="9309473"/>
              <a:ext cx="1837495" cy="872928"/>
            </a:xfrm>
            <a:prstGeom prst="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FF871A43-097C-A9D3-FB1D-512F013D1A4F}"/>
                </a:ext>
              </a:extLst>
            </p:cNvPr>
            <p:cNvSpPr/>
            <p:nvPr/>
          </p:nvSpPr>
          <p:spPr>
            <a:xfrm>
              <a:off x="896709" y="9697003"/>
              <a:ext cx="1193851" cy="689502"/>
            </a:xfrm>
            <a:prstGeom prst="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ABBC2502-02F9-38A2-7BC8-A37077A7F1B0}"/>
                </a:ext>
              </a:extLst>
            </p:cNvPr>
            <p:cNvSpPr/>
            <p:nvPr/>
          </p:nvSpPr>
          <p:spPr>
            <a:xfrm>
              <a:off x="453161" y="10125447"/>
              <a:ext cx="2079777" cy="471137"/>
            </a:xfrm>
            <a:prstGeom prst="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C76A204F-C122-EE3A-72D5-E935FA74CCEA}"/>
                </a:ext>
              </a:extLst>
            </p:cNvPr>
            <p:cNvSpPr/>
            <p:nvPr/>
          </p:nvSpPr>
          <p:spPr>
            <a:xfrm>
              <a:off x="1011204" y="8445881"/>
              <a:ext cx="858378" cy="872927"/>
            </a:xfrm>
            <a:prstGeom prst="rect">
              <a:avLst/>
            </a:prstGeom>
            <a:noFill/>
            <a:ln w="3175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18" name="直线连接符 217">
              <a:extLst>
                <a:ext uri="{FF2B5EF4-FFF2-40B4-BE49-F238E27FC236}">
                  <a16:creationId xmlns:a16="http://schemas.microsoft.com/office/drawing/2014/main" id="{CFB7DA27-34BF-779F-2475-37009C7ECD9D}"/>
                </a:ext>
              </a:extLst>
            </p:cNvPr>
            <p:cNvCxnSpPr>
              <a:cxnSpLocks/>
            </p:cNvCxnSpPr>
            <p:nvPr/>
          </p:nvCxnSpPr>
          <p:spPr>
            <a:xfrm>
              <a:off x="3571595" y="10722060"/>
              <a:ext cx="8243432" cy="0"/>
            </a:xfrm>
            <a:prstGeom prst="line">
              <a:avLst/>
            </a:prstGeom>
            <a:ln w="412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A260F953-7762-E527-85D9-E3C269048DA1}"/>
                </a:ext>
              </a:extLst>
            </p:cNvPr>
            <p:cNvSpPr txBox="1"/>
            <p:nvPr/>
          </p:nvSpPr>
          <p:spPr>
            <a:xfrm>
              <a:off x="3617281" y="7399644"/>
              <a:ext cx="72211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/>
                <a:t>Five constant dimensions</a:t>
              </a:r>
              <a:endParaRPr kumimoji="1" lang="zh-CN" altLang="en-US" sz="2800" dirty="0"/>
            </a:p>
          </p:txBody>
        </p:sp>
        <p:grpSp>
          <p:nvGrpSpPr>
            <p:cNvPr id="227" name="组合 226">
              <a:extLst>
                <a:ext uri="{FF2B5EF4-FFF2-40B4-BE49-F238E27FC236}">
                  <a16:creationId xmlns:a16="http://schemas.microsoft.com/office/drawing/2014/main" id="{BF88FE96-2F3F-2B9E-1C7C-FE1B5967E72C}"/>
                </a:ext>
              </a:extLst>
            </p:cNvPr>
            <p:cNvGrpSpPr/>
            <p:nvPr/>
          </p:nvGrpSpPr>
          <p:grpSpPr>
            <a:xfrm>
              <a:off x="3792970" y="9443954"/>
              <a:ext cx="1273829" cy="1059630"/>
              <a:chOff x="3239513" y="14588152"/>
              <a:chExt cx="1273829" cy="1059630"/>
            </a:xfrm>
          </p:grpSpPr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41C33D07-F3BA-52CE-EB87-D62C4963CB17}"/>
                  </a:ext>
                </a:extLst>
              </p:cNvPr>
              <p:cNvSpPr/>
              <p:nvPr/>
            </p:nvSpPr>
            <p:spPr>
              <a:xfrm>
                <a:off x="3239513" y="14588152"/>
                <a:ext cx="494877" cy="193358"/>
              </a:xfrm>
              <a:prstGeom prst="rect">
                <a:avLst/>
              </a:prstGeom>
              <a:solidFill>
                <a:srgbClr val="FFDB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DDBB735C-BCE8-A442-BE92-A897C3741120}"/>
                  </a:ext>
                </a:extLst>
              </p:cNvPr>
              <p:cNvSpPr/>
              <p:nvPr/>
            </p:nvSpPr>
            <p:spPr>
              <a:xfrm>
                <a:off x="4018465" y="14588152"/>
                <a:ext cx="494877" cy="193358"/>
              </a:xfrm>
              <a:prstGeom prst="rect">
                <a:avLst/>
              </a:prstGeom>
              <a:solidFill>
                <a:srgbClr val="FEEC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5" name="矩形 224">
                <a:extLst>
                  <a:ext uri="{FF2B5EF4-FFF2-40B4-BE49-F238E27FC236}">
                    <a16:creationId xmlns:a16="http://schemas.microsoft.com/office/drawing/2014/main" id="{E5D8FFD3-E7DE-7DCC-F89F-7360AEB1AC56}"/>
                  </a:ext>
                </a:extLst>
              </p:cNvPr>
              <p:cNvSpPr/>
              <p:nvPr/>
            </p:nvSpPr>
            <p:spPr>
              <a:xfrm>
                <a:off x="3246453" y="15454424"/>
                <a:ext cx="494877" cy="193358"/>
              </a:xfrm>
              <a:prstGeom prst="rect">
                <a:avLst/>
              </a:prstGeom>
              <a:solidFill>
                <a:srgbClr val="FEF5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829942B0-0997-1B92-070E-5EFAC0DBAD33}"/>
                  </a:ext>
                </a:extLst>
              </p:cNvPr>
              <p:cNvSpPr/>
              <p:nvPr/>
            </p:nvSpPr>
            <p:spPr>
              <a:xfrm>
                <a:off x="4018465" y="15451543"/>
                <a:ext cx="494877" cy="193358"/>
              </a:xfrm>
              <a:prstGeom prst="rect">
                <a:avLst/>
              </a:prstGeom>
              <a:solidFill>
                <a:srgbClr val="FEFA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28" name="组合 227">
              <a:extLst>
                <a:ext uri="{FF2B5EF4-FFF2-40B4-BE49-F238E27FC236}">
                  <a16:creationId xmlns:a16="http://schemas.microsoft.com/office/drawing/2014/main" id="{7C582A1F-3FD6-B8F7-BA73-4B10CF2B75F0}"/>
                </a:ext>
              </a:extLst>
            </p:cNvPr>
            <p:cNvGrpSpPr/>
            <p:nvPr/>
          </p:nvGrpSpPr>
          <p:grpSpPr>
            <a:xfrm>
              <a:off x="5576199" y="9426386"/>
              <a:ext cx="1273829" cy="1059630"/>
              <a:chOff x="3239513" y="14588152"/>
              <a:chExt cx="1273829" cy="1059630"/>
            </a:xfrm>
          </p:grpSpPr>
          <p:sp>
            <p:nvSpPr>
              <p:cNvPr id="229" name="矩形 228">
                <a:extLst>
                  <a:ext uri="{FF2B5EF4-FFF2-40B4-BE49-F238E27FC236}">
                    <a16:creationId xmlns:a16="http://schemas.microsoft.com/office/drawing/2014/main" id="{7E45D1DD-A49B-F758-A726-5D2C373268E5}"/>
                  </a:ext>
                </a:extLst>
              </p:cNvPr>
              <p:cNvSpPr/>
              <p:nvPr/>
            </p:nvSpPr>
            <p:spPr>
              <a:xfrm>
                <a:off x="3239513" y="14588152"/>
                <a:ext cx="494877" cy="193358"/>
              </a:xfrm>
              <a:prstGeom prst="rect">
                <a:avLst/>
              </a:prstGeom>
              <a:solidFill>
                <a:srgbClr val="FFDB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6E6B7977-5F7A-B217-0709-2827CE4A89CB}"/>
                  </a:ext>
                </a:extLst>
              </p:cNvPr>
              <p:cNvSpPr/>
              <p:nvPr/>
            </p:nvSpPr>
            <p:spPr>
              <a:xfrm>
                <a:off x="4018465" y="14588152"/>
                <a:ext cx="494877" cy="193358"/>
              </a:xfrm>
              <a:prstGeom prst="rect">
                <a:avLst/>
              </a:prstGeom>
              <a:solidFill>
                <a:srgbClr val="FEEC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1837BF49-6775-649D-E635-818AF2DA16D8}"/>
                  </a:ext>
                </a:extLst>
              </p:cNvPr>
              <p:cNvSpPr/>
              <p:nvPr/>
            </p:nvSpPr>
            <p:spPr>
              <a:xfrm>
                <a:off x="3246453" y="15454424"/>
                <a:ext cx="494877" cy="193358"/>
              </a:xfrm>
              <a:prstGeom prst="rect">
                <a:avLst/>
              </a:prstGeom>
              <a:solidFill>
                <a:srgbClr val="FEF5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5EE8A236-4E75-51A2-BE0B-79660C4E8025}"/>
                  </a:ext>
                </a:extLst>
              </p:cNvPr>
              <p:cNvSpPr/>
              <p:nvPr/>
            </p:nvSpPr>
            <p:spPr>
              <a:xfrm>
                <a:off x="4018465" y="15451543"/>
                <a:ext cx="494877" cy="193358"/>
              </a:xfrm>
              <a:prstGeom prst="rect">
                <a:avLst/>
              </a:prstGeom>
              <a:solidFill>
                <a:srgbClr val="FEFA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3996F188-8062-2C8F-4FBD-7C54670ADCE1}"/>
                </a:ext>
              </a:extLst>
            </p:cNvPr>
            <p:cNvGrpSpPr/>
            <p:nvPr/>
          </p:nvGrpSpPr>
          <p:grpSpPr>
            <a:xfrm>
              <a:off x="7309234" y="9413432"/>
              <a:ext cx="1129451" cy="1059630"/>
              <a:chOff x="3239513" y="14588152"/>
              <a:chExt cx="1129451" cy="1059630"/>
            </a:xfrm>
          </p:grpSpPr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4E53B359-75FF-31D1-7CED-B0F4AC98DFF9}"/>
                  </a:ext>
                </a:extLst>
              </p:cNvPr>
              <p:cNvSpPr/>
              <p:nvPr/>
            </p:nvSpPr>
            <p:spPr>
              <a:xfrm>
                <a:off x="3239513" y="14588152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5" name="矩形 234">
                <a:extLst>
                  <a:ext uri="{FF2B5EF4-FFF2-40B4-BE49-F238E27FC236}">
                    <a16:creationId xmlns:a16="http://schemas.microsoft.com/office/drawing/2014/main" id="{9FDDA388-7F32-3878-B0C0-C40118FC0ABF}"/>
                  </a:ext>
                </a:extLst>
              </p:cNvPr>
              <p:cNvSpPr/>
              <p:nvPr/>
            </p:nvSpPr>
            <p:spPr>
              <a:xfrm>
                <a:off x="3874087" y="14588152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6" name="矩形 235">
                <a:extLst>
                  <a:ext uri="{FF2B5EF4-FFF2-40B4-BE49-F238E27FC236}">
                    <a16:creationId xmlns:a16="http://schemas.microsoft.com/office/drawing/2014/main" id="{21942704-C578-65F9-DAAA-B604D1AA931F}"/>
                  </a:ext>
                </a:extLst>
              </p:cNvPr>
              <p:cNvSpPr/>
              <p:nvPr/>
            </p:nvSpPr>
            <p:spPr>
              <a:xfrm>
                <a:off x="3246453" y="15454424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A7C27E0C-0573-4F37-1F10-8FFEB501A800}"/>
                  </a:ext>
                </a:extLst>
              </p:cNvPr>
              <p:cNvSpPr/>
              <p:nvPr/>
            </p:nvSpPr>
            <p:spPr>
              <a:xfrm>
                <a:off x="3874087" y="15451543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8BCC57EB-A99A-8420-3B9A-17B530A17017}"/>
                </a:ext>
              </a:extLst>
            </p:cNvPr>
            <p:cNvGrpSpPr/>
            <p:nvPr/>
          </p:nvGrpSpPr>
          <p:grpSpPr>
            <a:xfrm>
              <a:off x="8906391" y="9419237"/>
              <a:ext cx="1273829" cy="1059630"/>
              <a:chOff x="3239513" y="14588152"/>
              <a:chExt cx="1273829" cy="1059630"/>
            </a:xfrm>
          </p:grpSpPr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C507EBE2-B86C-6626-B2C7-2D7930B1041E}"/>
                  </a:ext>
                </a:extLst>
              </p:cNvPr>
              <p:cNvSpPr/>
              <p:nvPr/>
            </p:nvSpPr>
            <p:spPr>
              <a:xfrm>
                <a:off x="3239513" y="14588152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37724C03-AE9F-0FF7-B5BB-E7A56DE04E2A}"/>
                  </a:ext>
                </a:extLst>
              </p:cNvPr>
              <p:cNvSpPr/>
              <p:nvPr/>
            </p:nvSpPr>
            <p:spPr>
              <a:xfrm>
                <a:off x="4018465" y="14588152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E1925748-F1EB-D5B2-3E3A-A2AB74929208}"/>
                  </a:ext>
                </a:extLst>
              </p:cNvPr>
              <p:cNvSpPr/>
              <p:nvPr/>
            </p:nvSpPr>
            <p:spPr>
              <a:xfrm>
                <a:off x="3246453" y="15454424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41226A40-33A5-3C5C-93C1-9F7FBB8CFF82}"/>
                  </a:ext>
                </a:extLst>
              </p:cNvPr>
              <p:cNvSpPr/>
              <p:nvPr/>
            </p:nvSpPr>
            <p:spPr>
              <a:xfrm>
                <a:off x="4018465" y="15451543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248" name="文本框 247">
              <a:extLst>
                <a:ext uri="{FF2B5EF4-FFF2-40B4-BE49-F238E27FC236}">
                  <a16:creationId xmlns:a16="http://schemas.microsoft.com/office/drawing/2014/main" id="{C775FDC6-46BD-4662-E42E-6937ABCA6691}"/>
                </a:ext>
              </a:extLst>
            </p:cNvPr>
            <p:cNvSpPr txBox="1"/>
            <p:nvPr/>
          </p:nvSpPr>
          <p:spPr>
            <a:xfrm>
              <a:off x="-856947" y="11184270"/>
              <a:ext cx="11680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2800" b="0" u="none" strike="noStrike" dirty="0">
                  <a:effectLst/>
                  <a:latin typeface="-apple-system"/>
                </a:rPr>
                <a:t>Other dimensions with controlled occurrence frequency gradient</a:t>
              </a:r>
              <a:endParaRPr kumimoji="1" lang="zh-CN" altLang="en-US" sz="2800" dirty="0"/>
            </a:p>
          </p:txBody>
        </p:sp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3C6B4B48-78E9-C064-C50B-69ECCEDA21CC}"/>
                </a:ext>
              </a:extLst>
            </p:cNvPr>
            <p:cNvGrpSpPr/>
            <p:nvPr/>
          </p:nvGrpSpPr>
          <p:grpSpPr>
            <a:xfrm>
              <a:off x="10554026" y="9403660"/>
              <a:ext cx="1201640" cy="1060187"/>
              <a:chOff x="3239513" y="14588152"/>
              <a:chExt cx="1201640" cy="1060187"/>
            </a:xfrm>
          </p:grpSpPr>
          <p:sp>
            <p:nvSpPr>
              <p:cNvPr id="250" name="矩形 249">
                <a:extLst>
                  <a:ext uri="{FF2B5EF4-FFF2-40B4-BE49-F238E27FC236}">
                    <a16:creationId xmlns:a16="http://schemas.microsoft.com/office/drawing/2014/main" id="{2D54EE95-E262-39CA-24DF-C812E7BA996F}"/>
                  </a:ext>
                </a:extLst>
              </p:cNvPr>
              <p:cNvSpPr/>
              <p:nvPr/>
            </p:nvSpPr>
            <p:spPr>
              <a:xfrm>
                <a:off x="3239513" y="14588152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1" name="矩形 250">
                <a:extLst>
                  <a:ext uri="{FF2B5EF4-FFF2-40B4-BE49-F238E27FC236}">
                    <a16:creationId xmlns:a16="http://schemas.microsoft.com/office/drawing/2014/main" id="{95E7905D-2329-5C46-A6AF-1A6A910F3A3C}"/>
                  </a:ext>
                </a:extLst>
              </p:cNvPr>
              <p:cNvSpPr/>
              <p:nvPr/>
            </p:nvSpPr>
            <p:spPr>
              <a:xfrm>
                <a:off x="3946276" y="14588152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2" name="矩形 251">
                <a:extLst>
                  <a:ext uri="{FF2B5EF4-FFF2-40B4-BE49-F238E27FC236}">
                    <a16:creationId xmlns:a16="http://schemas.microsoft.com/office/drawing/2014/main" id="{7AB2836D-FB47-4D47-D3E4-F4DF0ED025E7}"/>
                  </a:ext>
                </a:extLst>
              </p:cNvPr>
              <p:cNvSpPr/>
              <p:nvPr/>
            </p:nvSpPr>
            <p:spPr>
              <a:xfrm>
                <a:off x="3246453" y="15454424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A42FEAB7-6919-08B6-96E4-1678D43746F6}"/>
                  </a:ext>
                </a:extLst>
              </p:cNvPr>
              <p:cNvSpPr/>
              <p:nvPr/>
            </p:nvSpPr>
            <p:spPr>
              <a:xfrm>
                <a:off x="3946276" y="15454981"/>
                <a:ext cx="494877" cy="1933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5B460441-06F4-0E29-576F-0E5B1180266E}"/>
                </a:ext>
              </a:extLst>
            </p:cNvPr>
            <p:cNvGrpSpPr/>
            <p:nvPr/>
          </p:nvGrpSpPr>
          <p:grpSpPr>
            <a:xfrm>
              <a:off x="9417787" y="11213751"/>
              <a:ext cx="2538103" cy="1545106"/>
              <a:chOff x="3744598" y="14637258"/>
              <a:chExt cx="2538103" cy="1545106"/>
            </a:xfrm>
          </p:grpSpPr>
          <p:cxnSp>
            <p:nvCxnSpPr>
              <p:cNvPr id="265" name="直线连接符 264">
                <a:extLst>
                  <a:ext uri="{FF2B5EF4-FFF2-40B4-BE49-F238E27FC236}">
                    <a16:creationId xmlns:a16="http://schemas.microsoft.com/office/drawing/2014/main" id="{387E0867-7A95-1EFE-C607-F0B82F5A1C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8841" y="15849600"/>
                <a:ext cx="166499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线连接符 266">
                <a:extLst>
                  <a:ext uri="{FF2B5EF4-FFF2-40B4-BE49-F238E27FC236}">
                    <a16:creationId xmlns:a16="http://schemas.microsoft.com/office/drawing/2014/main" id="{C6C9EF71-A658-0DC6-A301-CF76BA3981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88841" y="14958646"/>
                <a:ext cx="10107" cy="8909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0" name="矩形 269">
                <a:extLst>
                  <a:ext uri="{FF2B5EF4-FFF2-40B4-BE49-F238E27FC236}">
                    <a16:creationId xmlns:a16="http://schemas.microsoft.com/office/drawing/2014/main" id="{4657FA8C-5A4B-FB2B-FD7D-5437927E30D0}"/>
                  </a:ext>
                </a:extLst>
              </p:cNvPr>
              <p:cNvSpPr/>
              <p:nvPr/>
            </p:nvSpPr>
            <p:spPr>
              <a:xfrm>
                <a:off x="4599442" y="15127715"/>
                <a:ext cx="259332" cy="63779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71" name="矩形 270">
                <a:extLst>
                  <a:ext uri="{FF2B5EF4-FFF2-40B4-BE49-F238E27FC236}">
                    <a16:creationId xmlns:a16="http://schemas.microsoft.com/office/drawing/2014/main" id="{BD91CA4E-012C-6120-D07F-538CF73D29FB}"/>
                  </a:ext>
                </a:extLst>
              </p:cNvPr>
              <p:cNvSpPr/>
              <p:nvPr/>
            </p:nvSpPr>
            <p:spPr>
              <a:xfrm>
                <a:off x="5075667" y="15413677"/>
                <a:ext cx="259332" cy="35183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2" name="矩形 271">
                <a:extLst>
                  <a:ext uri="{FF2B5EF4-FFF2-40B4-BE49-F238E27FC236}">
                    <a16:creationId xmlns:a16="http://schemas.microsoft.com/office/drawing/2014/main" id="{59F96F93-79CC-E16F-2129-16C2BD855CD7}"/>
                  </a:ext>
                </a:extLst>
              </p:cNvPr>
              <p:cNvSpPr/>
              <p:nvPr/>
            </p:nvSpPr>
            <p:spPr>
              <a:xfrm>
                <a:off x="5526912" y="15668872"/>
                <a:ext cx="259332" cy="9663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B93DBA4B-2E8B-70EC-DDC0-B6D28C08536F}"/>
                  </a:ext>
                </a:extLst>
              </p:cNvPr>
              <p:cNvSpPr txBox="1"/>
              <p:nvPr/>
            </p:nvSpPr>
            <p:spPr>
              <a:xfrm>
                <a:off x="4443616" y="14758382"/>
                <a:ext cx="9657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i="0" u="none" strike="noStrike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5.0%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7" name="文本框 276">
                <a:extLst>
                  <a:ext uri="{FF2B5EF4-FFF2-40B4-BE49-F238E27FC236}">
                    <a16:creationId xmlns:a16="http://schemas.microsoft.com/office/drawing/2014/main" id="{C599DC25-904B-3FCE-EB09-6F900EAF723A}"/>
                  </a:ext>
                </a:extLst>
              </p:cNvPr>
              <p:cNvSpPr txBox="1"/>
              <p:nvPr/>
            </p:nvSpPr>
            <p:spPr>
              <a:xfrm>
                <a:off x="4905511" y="15097030"/>
                <a:ext cx="778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i="0" u="none" strike="noStrike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2.5%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520DEA9B-CE8E-1175-3532-55153B8DAE29}"/>
                  </a:ext>
                </a:extLst>
              </p:cNvPr>
              <p:cNvSpPr txBox="1"/>
              <p:nvPr/>
            </p:nvSpPr>
            <p:spPr>
              <a:xfrm>
                <a:off x="5364360" y="15344678"/>
                <a:ext cx="9183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i="0" u="none" strike="noStrike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0.83%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9" name="文本框 278">
                <a:extLst>
                  <a:ext uri="{FF2B5EF4-FFF2-40B4-BE49-F238E27FC236}">
                    <a16:creationId xmlns:a16="http://schemas.microsoft.com/office/drawing/2014/main" id="{2D71E4B6-9F68-EC1E-41E2-5C923008FDE7}"/>
                  </a:ext>
                </a:extLst>
              </p:cNvPr>
              <p:cNvSpPr txBox="1"/>
              <p:nvPr/>
            </p:nvSpPr>
            <p:spPr>
              <a:xfrm rot="16200000">
                <a:off x="3295211" y="15086645"/>
                <a:ext cx="15451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i="0" u="none" strike="noStrike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% of </a:t>
                </a:r>
              </a:p>
              <a:p>
                <a:pPr algn="ctr"/>
                <a:r>
                  <a:rPr lang="en" altLang="zh-CN" i="0" u="none" strike="noStrike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images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F4FD31D9-BE4E-1121-0A73-735CC5D7E1DF}"/>
                </a:ext>
              </a:extLst>
            </p:cNvPr>
            <p:cNvGrpSpPr/>
            <p:nvPr/>
          </p:nvGrpSpPr>
          <p:grpSpPr>
            <a:xfrm>
              <a:off x="303246" y="11641641"/>
              <a:ext cx="2960720" cy="784830"/>
              <a:chOff x="455644" y="11685183"/>
              <a:chExt cx="2960720" cy="784830"/>
            </a:xfrm>
          </p:grpSpPr>
          <p:pic>
            <p:nvPicPr>
              <p:cNvPr id="254" name="图片 253" descr="棕色的玩具熊&#10;&#10;AI 生成的内容可能不正确。">
                <a:extLst>
                  <a:ext uri="{FF2B5EF4-FFF2-40B4-BE49-F238E27FC236}">
                    <a16:creationId xmlns:a16="http://schemas.microsoft.com/office/drawing/2014/main" id="{A630ED83-01DA-0FA4-364E-224D93FED5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rcRect l="12059" t="18476" r="7409" b="22226"/>
              <a:stretch>
                <a:fillRect/>
              </a:stretch>
            </p:blipFill>
            <p:spPr>
              <a:xfrm>
                <a:off x="674048" y="11706395"/>
                <a:ext cx="677751" cy="748548"/>
              </a:xfrm>
              <a:prstGeom prst="rect">
                <a:avLst/>
              </a:prstGeom>
              <a:noFill/>
            </p:spPr>
          </p:pic>
          <p:pic>
            <p:nvPicPr>
              <p:cNvPr id="255" name="图片 254" descr="黑色的钟表&#10;&#10;AI 生成的内容可能不正确。">
                <a:extLst>
                  <a:ext uri="{FF2B5EF4-FFF2-40B4-BE49-F238E27FC236}">
                    <a16:creationId xmlns:a16="http://schemas.microsoft.com/office/drawing/2014/main" id="{0FB03A0D-536A-7098-4A4D-66AAD5AED9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rcRect t="14829" b="23631"/>
              <a:stretch>
                <a:fillRect/>
              </a:stretch>
            </p:blipFill>
            <p:spPr>
              <a:xfrm>
                <a:off x="1458039" y="11685183"/>
                <a:ext cx="850204" cy="784830"/>
              </a:xfrm>
              <a:prstGeom prst="rect">
                <a:avLst/>
              </a:prstGeom>
              <a:noFill/>
            </p:spPr>
          </p:pic>
          <p:pic>
            <p:nvPicPr>
              <p:cNvPr id="256" name="图片 255" descr="在盒子里&#10;&#10;AI 生成的内容可能不正确。">
                <a:extLst>
                  <a:ext uri="{FF2B5EF4-FFF2-40B4-BE49-F238E27FC236}">
                    <a16:creationId xmlns:a16="http://schemas.microsoft.com/office/drawing/2014/main" id="{7B91B4B9-14E7-C2E9-8980-68948A649E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rcRect l="14132" t="14037" r="10589" b="18176"/>
              <a:stretch>
                <a:fillRect/>
              </a:stretch>
            </p:blipFill>
            <p:spPr>
              <a:xfrm>
                <a:off x="2397758" y="11805083"/>
                <a:ext cx="1018605" cy="611488"/>
              </a:xfrm>
              <a:prstGeom prst="rect">
                <a:avLst/>
              </a:prstGeom>
              <a:noFill/>
            </p:spPr>
          </p:pic>
          <p:sp>
            <p:nvSpPr>
              <p:cNvPr id="285" name="圆角矩形 284">
                <a:extLst>
                  <a:ext uri="{FF2B5EF4-FFF2-40B4-BE49-F238E27FC236}">
                    <a16:creationId xmlns:a16="http://schemas.microsoft.com/office/drawing/2014/main" id="{74DA1E4F-FFC0-CE94-E91A-7DFF5BFEBDEE}"/>
                  </a:ext>
                </a:extLst>
              </p:cNvPr>
              <p:cNvSpPr/>
              <p:nvPr/>
            </p:nvSpPr>
            <p:spPr>
              <a:xfrm>
                <a:off x="455644" y="11724118"/>
                <a:ext cx="2960720" cy="723828"/>
              </a:xfrm>
              <a:prstGeom prst="roundRect">
                <a:avLst/>
              </a:prstGeom>
              <a:noFill/>
              <a:ln w="4127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8F26C563-44A1-C8DE-4843-C909D11945C8}"/>
                </a:ext>
              </a:extLst>
            </p:cNvPr>
            <p:cNvGrpSpPr/>
            <p:nvPr/>
          </p:nvGrpSpPr>
          <p:grpSpPr>
            <a:xfrm>
              <a:off x="3395304" y="11696176"/>
              <a:ext cx="2764710" cy="766212"/>
              <a:chOff x="3526132" y="11718938"/>
              <a:chExt cx="2764710" cy="766212"/>
            </a:xfrm>
          </p:grpSpPr>
          <p:pic>
            <p:nvPicPr>
              <p:cNvPr id="258" name="Picture 10">
                <a:extLst>
                  <a:ext uri="{FF2B5EF4-FFF2-40B4-BE49-F238E27FC236}">
                    <a16:creationId xmlns:a16="http://schemas.microsoft.com/office/drawing/2014/main" id="{3AB7BA6F-50B6-B9B5-9634-997E3201C9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762" r="17510"/>
              <a:stretch/>
            </p:blipFill>
            <p:spPr bwMode="auto">
              <a:xfrm>
                <a:off x="3774704" y="11754316"/>
                <a:ext cx="650687" cy="6866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9" name="Picture 18">
                <a:extLst>
                  <a:ext uri="{FF2B5EF4-FFF2-40B4-BE49-F238E27FC236}">
                    <a16:creationId xmlns:a16="http://schemas.microsoft.com/office/drawing/2014/main" id="{749D1EE7-F592-BEEA-D3F2-CBAC7D3DA2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75" t="7917" r="25587" b="5635"/>
              <a:stretch/>
            </p:blipFill>
            <p:spPr bwMode="auto">
              <a:xfrm>
                <a:off x="4684362" y="11802748"/>
                <a:ext cx="650687" cy="6503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0" name="Picture 6" descr=", AI generated">
                <a:extLst>
                  <a:ext uri="{FF2B5EF4-FFF2-40B4-BE49-F238E27FC236}">
                    <a16:creationId xmlns:a16="http://schemas.microsoft.com/office/drawing/2014/main" id="{D69FD2BA-4146-D017-90C1-6ABEB5E1EF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738" r="35695"/>
              <a:stretch/>
            </p:blipFill>
            <p:spPr bwMode="auto">
              <a:xfrm>
                <a:off x="5623487" y="11730713"/>
                <a:ext cx="408622" cy="7544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6" name="圆角矩形 285">
                <a:extLst>
                  <a:ext uri="{FF2B5EF4-FFF2-40B4-BE49-F238E27FC236}">
                    <a16:creationId xmlns:a16="http://schemas.microsoft.com/office/drawing/2014/main" id="{D3E7EB02-3E68-C1BB-1AB0-5A700F779B2A}"/>
                  </a:ext>
                </a:extLst>
              </p:cNvPr>
              <p:cNvSpPr/>
              <p:nvPr/>
            </p:nvSpPr>
            <p:spPr>
              <a:xfrm>
                <a:off x="3526132" y="11718938"/>
                <a:ext cx="2764710" cy="723828"/>
              </a:xfrm>
              <a:prstGeom prst="roundRect">
                <a:avLst/>
              </a:prstGeom>
              <a:noFill/>
              <a:ln w="41275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047665B6-D1CB-E54E-A2C3-F61F62737C3E}"/>
                </a:ext>
              </a:extLst>
            </p:cNvPr>
            <p:cNvGrpSpPr/>
            <p:nvPr/>
          </p:nvGrpSpPr>
          <p:grpSpPr>
            <a:xfrm>
              <a:off x="6326921" y="11663487"/>
              <a:ext cx="2764710" cy="784830"/>
              <a:chOff x="6366380" y="11685183"/>
              <a:chExt cx="2764710" cy="784830"/>
            </a:xfrm>
          </p:grpSpPr>
          <p:pic>
            <p:nvPicPr>
              <p:cNvPr id="257" name="图片 256" descr="图片包含 游戏机, 桌子&#10;&#10;AI 生成的内容可能不正确。">
                <a:extLst>
                  <a:ext uri="{FF2B5EF4-FFF2-40B4-BE49-F238E27FC236}">
                    <a16:creationId xmlns:a16="http://schemas.microsoft.com/office/drawing/2014/main" id="{ADE52240-2FD0-6A4F-C51B-71901FE07D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rcRect l="14589" t="9822" r="12696" b="7802"/>
              <a:stretch>
                <a:fillRect/>
              </a:stretch>
            </p:blipFill>
            <p:spPr>
              <a:xfrm>
                <a:off x="8156890" y="11698265"/>
                <a:ext cx="607715" cy="754805"/>
              </a:xfrm>
              <a:prstGeom prst="rect">
                <a:avLst/>
              </a:prstGeom>
              <a:noFill/>
            </p:spPr>
          </p:pic>
          <p:pic>
            <p:nvPicPr>
              <p:cNvPr id="6146" name="Picture 2" descr=", AI generated">
                <a:extLst>
                  <a:ext uri="{FF2B5EF4-FFF2-40B4-BE49-F238E27FC236}">
                    <a16:creationId xmlns:a16="http://schemas.microsoft.com/office/drawing/2014/main" id="{C1D5726A-A9CF-1D7F-940C-465F84BBFE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585" r="24308"/>
              <a:stretch/>
            </p:blipFill>
            <p:spPr bwMode="auto">
              <a:xfrm>
                <a:off x="7414186" y="11685183"/>
                <a:ext cx="524310" cy="784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1" name="Picture 16">
                <a:extLst>
                  <a:ext uri="{FF2B5EF4-FFF2-40B4-BE49-F238E27FC236}">
                    <a16:creationId xmlns:a16="http://schemas.microsoft.com/office/drawing/2014/main" id="{32A7E73C-78D2-D5FA-8C28-C9DA884D47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761" t="14569" r="29347" b="7234"/>
              <a:stretch/>
            </p:blipFill>
            <p:spPr bwMode="auto">
              <a:xfrm>
                <a:off x="6613490" y="11756649"/>
                <a:ext cx="616715" cy="6599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7" name="圆角矩形 286">
                <a:extLst>
                  <a:ext uri="{FF2B5EF4-FFF2-40B4-BE49-F238E27FC236}">
                    <a16:creationId xmlns:a16="http://schemas.microsoft.com/office/drawing/2014/main" id="{FFBA4308-B232-502A-3D13-210E9D1CCF5E}"/>
                  </a:ext>
                </a:extLst>
              </p:cNvPr>
              <p:cNvSpPr/>
              <p:nvPr/>
            </p:nvSpPr>
            <p:spPr>
              <a:xfrm>
                <a:off x="6366380" y="11711770"/>
                <a:ext cx="2764710" cy="723828"/>
              </a:xfrm>
              <a:prstGeom prst="roundRect">
                <a:avLst/>
              </a:prstGeom>
              <a:noFill/>
              <a:ln w="41275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90" name="圆角矩形 289">
              <a:extLst>
                <a:ext uri="{FF2B5EF4-FFF2-40B4-BE49-F238E27FC236}">
                  <a16:creationId xmlns:a16="http://schemas.microsoft.com/office/drawing/2014/main" id="{33D9212E-9D67-3620-CD9A-C8A1AF0DEA4D}"/>
                </a:ext>
              </a:extLst>
            </p:cNvPr>
            <p:cNvSpPr/>
            <p:nvPr/>
          </p:nvSpPr>
          <p:spPr>
            <a:xfrm>
              <a:off x="3533681" y="7925311"/>
              <a:ext cx="8311156" cy="2627821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5" name="圆角矩形 294">
              <a:extLst>
                <a:ext uri="{FF2B5EF4-FFF2-40B4-BE49-F238E27FC236}">
                  <a16:creationId xmlns:a16="http://schemas.microsoft.com/office/drawing/2014/main" id="{0C28FA43-475D-5DA7-05AE-0057DA1DB895}"/>
                </a:ext>
              </a:extLst>
            </p:cNvPr>
            <p:cNvSpPr/>
            <p:nvPr/>
          </p:nvSpPr>
          <p:spPr>
            <a:xfrm>
              <a:off x="209880" y="11167628"/>
              <a:ext cx="11680462" cy="1379801"/>
            </a:xfrm>
            <a:prstGeom prst="roundRect">
              <a:avLst>
                <a:gd name="adj" fmla="val 4036"/>
              </a:avLst>
            </a:prstGeom>
            <a:noFill/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98" name="文本框 297">
            <a:extLst>
              <a:ext uri="{FF2B5EF4-FFF2-40B4-BE49-F238E27FC236}">
                <a16:creationId xmlns:a16="http://schemas.microsoft.com/office/drawing/2014/main" id="{96759C5F-D475-5F6A-5B1C-BA2B4764C42D}"/>
              </a:ext>
            </a:extLst>
          </p:cNvPr>
          <p:cNvSpPr txBox="1"/>
          <p:nvPr/>
        </p:nvSpPr>
        <p:spPr>
          <a:xfrm>
            <a:off x="318694" y="12925124"/>
            <a:ext cx="50191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chemeClr val="accent2">
                    <a:lumMod val="75000"/>
                  </a:schemeClr>
                </a:solidFill>
              </a:rPr>
              <a:t>Group design and procedure</a:t>
            </a:r>
            <a:endParaRPr kumimoji="1"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99020641-E95D-8694-F2A2-4F20230AD213}"/>
              </a:ext>
            </a:extLst>
          </p:cNvPr>
          <p:cNvSpPr txBox="1"/>
          <p:nvPr/>
        </p:nvSpPr>
        <p:spPr>
          <a:xfrm>
            <a:off x="0" y="13533646"/>
            <a:ext cx="12193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2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Effect of prior observation in high-dimensional task</a:t>
            </a:r>
            <a:endParaRPr lang="zh-CN" altLang="en-US" dirty="0"/>
          </a:p>
        </p:txBody>
      </p:sp>
      <p:sp>
        <p:nvSpPr>
          <p:cNvPr id="300" name="圆角矩形 299">
            <a:extLst>
              <a:ext uri="{FF2B5EF4-FFF2-40B4-BE49-F238E27FC236}">
                <a16:creationId xmlns:a16="http://schemas.microsoft.com/office/drawing/2014/main" id="{55C27933-679A-A47A-61BB-113510FF5D4E}"/>
              </a:ext>
            </a:extLst>
          </p:cNvPr>
          <p:cNvSpPr/>
          <p:nvPr/>
        </p:nvSpPr>
        <p:spPr>
          <a:xfrm>
            <a:off x="3045067" y="14719131"/>
            <a:ext cx="2711088" cy="720303"/>
          </a:xfrm>
          <a:prstGeom prst="roundRect">
            <a:avLst>
              <a:gd name="adj" fmla="val 18827"/>
            </a:avLst>
          </a:prstGeom>
          <a:solidFill>
            <a:srgbClr val="FEE6D3"/>
          </a:solidFill>
          <a:ln w="41275">
            <a:solidFill>
              <a:srgbClr val="DC7B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endParaRPr kumimoji="1" lang="zh-CN" altLang="en-US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" name="圆角矩形 300">
            <a:extLst>
              <a:ext uri="{FF2B5EF4-FFF2-40B4-BE49-F238E27FC236}">
                <a16:creationId xmlns:a16="http://schemas.microsoft.com/office/drawing/2014/main" id="{DD1F9CD9-ABE8-DD1C-AA94-CCE0C4071AAE}"/>
              </a:ext>
            </a:extLst>
          </p:cNvPr>
          <p:cNvSpPr/>
          <p:nvPr/>
        </p:nvSpPr>
        <p:spPr>
          <a:xfrm>
            <a:off x="6347990" y="14719131"/>
            <a:ext cx="2098241" cy="720303"/>
          </a:xfrm>
          <a:prstGeom prst="roundRect">
            <a:avLst>
              <a:gd name="adj" fmla="val 18827"/>
            </a:avLst>
          </a:prstGeom>
          <a:solidFill>
            <a:srgbClr val="FEE2CF"/>
          </a:solidFill>
          <a:ln w="41275">
            <a:solidFill>
              <a:srgbClr val="DE85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 task</a:t>
            </a:r>
            <a:endParaRPr kumimoji="1" lang="zh-CN" altLang="en-US" sz="32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3" name="右大括号 302">
            <a:extLst>
              <a:ext uri="{FF2B5EF4-FFF2-40B4-BE49-F238E27FC236}">
                <a16:creationId xmlns:a16="http://schemas.microsoft.com/office/drawing/2014/main" id="{002FF4AC-149A-E614-EF12-D4C6B7F0E1FE}"/>
              </a:ext>
            </a:extLst>
          </p:cNvPr>
          <p:cNvSpPr/>
          <p:nvPr/>
        </p:nvSpPr>
        <p:spPr>
          <a:xfrm>
            <a:off x="8615404" y="14868904"/>
            <a:ext cx="561369" cy="1745434"/>
          </a:xfrm>
          <a:prstGeom prst="rightBrac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4" name="右箭头 303">
            <a:extLst>
              <a:ext uri="{FF2B5EF4-FFF2-40B4-BE49-F238E27FC236}">
                <a16:creationId xmlns:a16="http://schemas.microsoft.com/office/drawing/2014/main" id="{FDEF42BC-2DD8-2E46-DAD6-544554A177CA}"/>
              </a:ext>
            </a:extLst>
          </p:cNvPr>
          <p:cNvSpPr/>
          <p:nvPr/>
        </p:nvSpPr>
        <p:spPr>
          <a:xfrm>
            <a:off x="5942250" y="14917442"/>
            <a:ext cx="303924" cy="368737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5" name="右箭头 304">
            <a:extLst>
              <a:ext uri="{FF2B5EF4-FFF2-40B4-BE49-F238E27FC236}">
                <a16:creationId xmlns:a16="http://schemas.microsoft.com/office/drawing/2014/main" id="{75B2B8B1-BB57-D8B3-1898-0E0EF2EF8ADC}"/>
              </a:ext>
            </a:extLst>
          </p:cNvPr>
          <p:cNvSpPr/>
          <p:nvPr/>
        </p:nvSpPr>
        <p:spPr>
          <a:xfrm>
            <a:off x="8878233" y="15557252"/>
            <a:ext cx="465896" cy="42982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06" name="圆角矩形 305">
            <a:extLst>
              <a:ext uri="{FF2B5EF4-FFF2-40B4-BE49-F238E27FC236}">
                <a16:creationId xmlns:a16="http://schemas.microsoft.com/office/drawing/2014/main" id="{6B5BBD43-61B5-E552-F0BC-D11C56B624A7}"/>
              </a:ext>
            </a:extLst>
          </p:cNvPr>
          <p:cNvSpPr/>
          <p:nvPr/>
        </p:nvSpPr>
        <p:spPr>
          <a:xfrm>
            <a:off x="9514473" y="15280889"/>
            <a:ext cx="2093300" cy="1061347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 w="412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&amp; Interview</a:t>
            </a:r>
            <a:endParaRPr kumimoji="1"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7" name="直线连接符 306">
            <a:extLst>
              <a:ext uri="{FF2B5EF4-FFF2-40B4-BE49-F238E27FC236}">
                <a16:creationId xmlns:a16="http://schemas.microsoft.com/office/drawing/2014/main" id="{16F06AB2-C0A7-398C-77EC-D6BB6A7244F7}"/>
              </a:ext>
            </a:extLst>
          </p:cNvPr>
          <p:cNvCxnSpPr>
            <a:cxnSpLocks/>
          </p:cNvCxnSpPr>
          <p:nvPr/>
        </p:nvCxnSpPr>
        <p:spPr>
          <a:xfrm flipV="1">
            <a:off x="3215833" y="16387035"/>
            <a:ext cx="2352777" cy="6923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右中括号 308">
            <a:extLst>
              <a:ext uri="{FF2B5EF4-FFF2-40B4-BE49-F238E27FC236}">
                <a16:creationId xmlns:a16="http://schemas.microsoft.com/office/drawing/2014/main" id="{6522262C-9B1C-0E42-F72B-CA5A54DE788E}"/>
              </a:ext>
            </a:extLst>
          </p:cNvPr>
          <p:cNvSpPr/>
          <p:nvPr/>
        </p:nvSpPr>
        <p:spPr>
          <a:xfrm rot="16200000">
            <a:off x="7311077" y="13463231"/>
            <a:ext cx="134677" cy="2106167"/>
          </a:xfrm>
          <a:prstGeom prst="rightBracket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5AD35A7C-ED15-EDF3-B7ED-68AC18DC8B28}"/>
              </a:ext>
            </a:extLst>
          </p:cNvPr>
          <p:cNvSpPr txBox="1"/>
          <p:nvPr/>
        </p:nvSpPr>
        <p:spPr>
          <a:xfrm>
            <a:off x="6496083" y="14082876"/>
            <a:ext cx="182402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60 rounds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37AD434C-E95D-A5E6-146B-F2AE6DDA7655}"/>
              </a:ext>
            </a:extLst>
          </p:cNvPr>
          <p:cNvSpPr txBox="1"/>
          <p:nvPr/>
        </p:nvSpPr>
        <p:spPr>
          <a:xfrm>
            <a:off x="528044" y="14512814"/>
            <a:ext cx="2478065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Observation Group(Obs)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44E1C7D5-9185-89DB-250F-0E3F526C529B}"/>
              </a:ext>
            </a:extLst>
          </p:cNvPr>
          <p:cNvSpPr txBox="1"/>
          <p:nvPr/>
        </p:nvSpPr>
        <p:spPr>
          <a:xfrm>
            <a:off x="169505" y="15849225"/>
            <a:ext cx="309446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No-Observation group (NObs)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4" name="图片 313" descr="图示&#10;&#10;描述已自动生成">
            <a:extLst>
              <a:ext uri="{FF2B5EF4-FFF2-40B4-BE49-F238E27FC236}">
                <a16:creationId xmlns:a16="http://schemas.microsoft.com/office/drawing/2014/main" id="{8897D307-22C3-ED70-AF10-1C0478B4BB28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69922" t="13491" r="7422" b="32250"/>
          <a:stretch/>
        </p:blipFill>
        <p:spPr>
          <a:xfrm>
            <a:off x="10113949" y="14322846"/>
            <a:ext cx="1038115" cy="827931"/>
          </a:xfrm>
          <a:prstGeom prst="rect">
            <a:avLst/>
          </a:prstGeom>
          <a:noFill/>
        </p:spPr>
      </p:pic>
      <p:sp>
        <p:nvSpPr>
          <p:cNvPr id="316" name="圆角矩形 315">
            <a:extLst>
              <a:ext uri="{FF2B5EF4-FFF2-40B4-BE49-F238E27FC236}">
                <a16:creationId xmlns:a16="http://schemas.microsoft.com/office/drawing/2014/main" id="{B5E8F090-0B64-1926-F841-B178348449D3}"/>
              </a:ext>
            </a:extLst>
          </p:cNvPr>
          <p:cNvSpPr/>
          <p:nvPr/>
        </p:nvSpPr>
        <p:spPr>
          <a:xfrm>
            <a:off x="6367720" y="16015254"/>
            <a:ext cx="2098241" cy="720303"/>
          </a:xfrm>
          <a:prstGeom prst="roundRect">
            <a:avLst>
              <a:gd name="adj" fmla="val 18827"/>
            </a:avLst>
          </a:prstGeom>
          <a:solidFill>
            <a:srgbClr val="FFF2D5"/>
          </a:solidFill>
          <a:ln w="41275">
            <a:solidFill>
              <a:srgbClr val="F3B6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 task</a:t>
            </a:r>
            <a:endParaRPr kumimoji="1" lang="zh-CN" altLang="en-US" sz="32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7" name="图片 316" descr="图示&#10;&#10;描述已自动生成">
            <a:extLst>
              <a:ext uri="{FF2B5EF4-FFF2-40B4-BE49-F238E27FC236}">
                <a16:creationId xmlns:a16="http://schemas.microsoft.com/office/drawing/2014/main" id="{E1341D9D-3016-7718-EC35-D1C5DD9F8D8A}"/>
              </a:ext>
            </a:extLst>
          </p:cNvPr>
          <p:cNvPicPr>
            <a:picLocks noChangeAspect="1"/>
          </p:cNvPicPr>
          <p:nvPr/>
        </p:nvPicPr>
        <p:blipFill rotWithShape="1">
          <a:blip r:embed="rId35"/>
          <a:srcRect l="40887" t="19626" r="39581" b="30113"/>
          <a:stretch/>
        </p:blipFill>
        <p:spPr>
          <a:xfrm>
            <a:off x="4031108" y="13989795"/>
            <a:ext cx="792598" cy="67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726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9.25,&quot;left&quot;:518.8917322834645,&quot;top&quot;:112.99929133858268,&quot;width&quot;:243.25}"/>
</p:tagLst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45609</TotalTime>
  <Words>222</Words>
  <Application>Microsoft Office PowerPoint</Application>
  <PresentationFormat>自定义</PresentationFormat>
  <Paragraphs>73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-apple-system</vt:lpstr>
      <vt:lpstr>等线</vt:lpstr>
      <vt:lpstr>Arial</vt:lpstr>
      <vt:lpstr>Calibri</vt:lpstr>
      <vt:lpstr>Calibri Light</vt:lpstr>
      <vt:lpstr>Office 2013 - 2022 主题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宇航 潘</dc:creator>
  <cp:lastModifiedBy>a21604</cp:lastModifiedBy>
  <cp:revision>6</cp:revision>
  <dcterms:created xsi:type="dcterms:W3CDTF">2026-08-28T09:31:15Z</dcterms:created>
  <dcterms:modified xsi:type="dcterms:W3CDTF">2026-10-13T08:40:55Z</dcterms:modified>
</cp:coreProperties>
</file>